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tomotive Data Pipeline Summary Using Databricks" id="{AFEFA983-4FE4-438D-93DA-CEFFD77D4B41}">
          <p14:sldIdLst>
            <p14:sldId id="2561"/>
          </p14:sldIdLst>
        </p14:section>
        <p14:section name="Project Overview and Objectives" id="{ED7E8094-C0E2-443C-AE97-D4E95D54BBCF}">
          <p14:sldIdLst>
            <p14:sldId id="2562"/>
            <p14:sldId id="2563"/>
          </p14:sldIdLst>
        </p14:section>
        <p14:section name="Scripts and Execution" id="{106B262D-C2E7-4208-8FDF-C04676DCF692}">
          <p14:sldIdLst>
            <p14:sldId id="2564"/>
            <p14:sldId id="2565"/>
            <p14:sldId id="2566"/>
          </p14:sldIdLst>
        </p14:section>
        <p14:section name="Data Processing and Transformation Decisions" id="{467CEB65-7A9E-4998-9A69-BE5C5010C3DB}">
          <p14:sldIdLst>
            <p14:sldId id="2567"/>
            <p14:sldId id="2568"/>
            <p14:sldId id="2569"/>
          </p14:sldIdLst>
        </p14:section>
        <p14:section name="Data Loading and Automation" id="{2947DB36-9619-463B-8A40-F8B25169E2A8}">
          <p14:sldIdLst>
            <p14:sldId id="2570"/>
            <p14:sldId id="2571"/>
            <p14:sldId id="2572"/>
          </p14:sldIdLst>
        </p14:section>
        <p14:section name="Challenges and Solutions" id="{FBDC9EDC-FF02-4A30-8168-3DC3AB698E4B}">
          <p14:sldIdLst>
            <p14:sldId id="2573"/>
            <p14:sldId id="2574"/>
            <p14:sldId id="2575"/>
          </p14:sldIdLst>
        </p14:section>
        <p14:section name="Insights and Dashboards" id="{1F50ECB0-2DCA-412F-AC66-A0C445F8F798}">
          <p14:sldIdLst>
            <p14:sldId id="2576"/>
            <p14:sldId id="25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9D8F7C-24EA-4466-B516-9B8E6B716636}" v="36" dt="2025-11-28T08:03:10.4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18" d="100"/>
          <a:sy n="118" d="100"/>
        </p:scale>
        <p:origin x="276"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Miat" userId="df643c2e-549b-4878-b6aa-de474b5fa2ff" providerId="ADAL" clId="{CD96B623-F594-43EB-B644-0F44F112ECF9}"/>
    <pc:docChg chg="undo custSel modSld modMainMaster">
      <pc:chgData name="Daniel Miat" userId="df643c2e-549b-4878-b6aa-de474b5fa2ff" providerId="ADAL" clId="{CD96B623-F594-43EB-B644-0F44F112ECF9}" dt="2025-11-28T08:03:29.938" v="185" actId="1076"/>
      <pc:docMkLst>
        <pc:docMk/>
      </pc:docMkLst>
      <pc:sldChg chg="addSp modSp mod modAnim modNotesTx">
        <pc:chgData name="Daniel Miat" userId="df643c2e-549b-4878-b6aa-de474b5fa2ff" providerId="ADAL" clId="{CD96B623-F594-43EB-B644-0F44F112ECF9}" dt="2025-11-28T07:53:10.772" v="148" actId="1076"/>
        <pc:sldMkLst>
          <pc:docMk/>
          <pc:sldMk cId="1551364096" sldId="2561"/>
        </pc:sldMkLst>
        <pc:spChg chg="mod">
          <ac:chgData name="Daniel Miat" userId="df643c2e-549b-4878-b6aa-de474b5fa2ff" providerId="ADAL" clId="{CD96B623-F594-43EB-B644-0F44F112ECF9}" dt="2025-11-28T07:49:15.539" v="119" actId="1076"/>
          <ac:spMkLst>
            <pc:docMk/>
            <pc:sldMk cId="1551364096" sldId="2561"/>
            <ac:spMk id="2" creationId="{875623D8-316C-B92D-27F4-C154607AA462}"/>
          </ac:spMkLst>
        </pc:spChg>
        <pc:spChg chg="mod">
          <ac:chgData name="Daniel Miat" userId="df643c2e-549b-4878-b6aa-de474b5fa2ff" providerId="ADAL" clId="{CD96B623-F594-43EB-B644-0F44F112ECF9}" dt="2025-11-28T07:48:55.389" v="113" actId="1076"/>
          <ac:spMkLst>
            <pc:docMk/>
            <pc:sldMk cId="1551364096" sldId="2561"/>
            <ac:spMk id="3" creationId="{16B016C2-C689-F913-3C07-2205829B0E6D}"/>
          </ac:spMkLst>
        </pc:spChg>
        <pc:spChg chg="add mod">
          <ac:chgData name="Daniel Miat" userId="df643c2e-549b-4878-b6aa-de474b5fa2ff" providerId="ADAL" clId="{CD96B623-F594-43EB-B644-0F44F112ECF9}" dt="2025-11-28T07:48:59.822" v="114" actId="1076"/>
          <ac:spMkLst>
            <pc:docMk/>
            <pc:sldMk cId="1551364096" sldId="2561"/>
            <ac:spMk id="6" creationId="{CEBF4759-8D94-D461-1DC8-C4F953AC4673}"/>
          </ac:spMkLst>
        </pc:spChg>
        <pc:spChg chg="add mod">
          <ac:chgData name="Daniel Miat" userId="df643c2e-549b-4878-b6aa-de474b5fa2ff" providerId="ADAL" clId="{CD96B623-F594-43EB-B644-0F44F112ECF9}" dt="2025-11-28T07:52:52.654" v="145" actId="1076"/>
          <ac:spMkLst>
            <pc:docMk/>
            <pc:sldMk cId="1551364096" sldId="2561"/>
            <ac:spMk id="8" creationId="{ABCDDD1F-47DC-41C2-AA2D-D1108ED855C7}"/>
          </ac:spMkLst>
        </pc:spChg>
        <pc:spChg chg="add mod">
          <ac:chgData name="Daniel Miat" userId="df643c2e-549b-4878-b6aa-de474b5fa2ff" providerId="ADAL" clId="{CD96B623-F594-43EB-B644-0F44F112ECF9}" dt="2025-11-28T07:53:10.772" v="148" actId="1076"/>
          <ac:spMkLst>
            <pc:docMk/>
            <pc:sldMk cId="1551364096" sldId="2561"/>
            <ac:spMk id="11" creationId="{7FDB7214-6B15-8334-A8C2-97596B125CDE}"/>
          </ac:spMkLst>
        </pc:spChg>
      </pc:sldChg>
      <pc:sldChg chg="modSp mod">
        <pc:chgData name="Daniel Miat" userId="df643c2e-549b-4878-b6aa-de474b5fa2ff" providerId="ADAL" clId="{CD96B623-F594-43EB-B644-0F44F112ECF9}" dt="2025-11-28T08:03:10.485" v="184" actId="20577"/>
        <pc:sldMkLst>
          <pc:docMk/>
          <pc:sldMk cId="3664552020" sldId="2565"/>
        </pc:sldMkLst>
        <pc:spChg chg="mod">
          <ac:chgData name="Daniel Miat" userId="df643c2e-549b-4878-b6aa-de474b5fa2ff" providerId="ADAL" clId="{CD96B623-F594-43EB-B644-0F44F112ECF9}" dt="2025-11-28T08:02:57.365" v="178" actId="21"/>
          <ac:spMkLst>
            <pc:docMk/>
            <pc:sldMk cId="3664552020" sldId="2565"/>
            <ac:spMk id="2" creationId="{3EC39652-ABD1-A879-DECA-99CB220CDEAC}"/>
          </ac:spMkLst>
        </pc:spChg>
        <pc:spChg chg="mod">
          <ac:chgData name="Daniel Miat" userId="df643c2e-549b-4878-b6aa-de474b5fa2ff" providerId="ADAL" clId="{CD96B623-F594-43EB-B644-0F44F112ECF9}" dt="2025-11-28T08:03:10.485" v="184" actId="20577"/>
          <ac:spMkLst>
            <pc:docMk/>
            <pc:sldMk cId="3664552020" sldId="2565"/>
            <ac:spMk id="5" creationId="{82CF7B93-E174-4325-A6AC-32C0AEC659D5}"/>
          </ac:spMkLst>
        </pc:spChg>
      </pc:sldChg>
      <pc:sldChg chg="modSp mod">
        <pc:chgData name="Daniel Miat" userId="df643c2e-549b-4878-b6aa-de474b5fa2ff" providerId="ADAL" clId="{CD96B623-F594-43EB-B644-0F44F112ECF9}" dt="2025-11-28T08:03:29.938" v="185" actId="1076"/>
        <pc:sldMkLst>
          <pc:docMk/>
          <pc:sldMk cId="2759317796" sldId="2577"/>
        </pc:sldMkLst>
        <pc:spChg chg="mod">
          <ac:chgData name="Daniel Miat" userId="df643c2e-549b-4878-b6aa-de474b5fa2ff" providerId="ADAL" clId="{CD96B623-F594-43EB-B644-0F44F112ECF9}" dt="2025-11-28T08:03:29.938" v="185" actId="1076"/>
          <ac:spMkLst>
            <pc:docMk/>
            <pc:sldMk cId="2759317796" sldId="2577"/>
            <ac:spMk id="5" creationId="{00D29F2C-B9D1-4EE9-A3F5-5B19A952AA7D}"/>
          </ac:spMkLst>
        </pc:spChg>
      </pc:sldChg>
      <pc:sldMasterChg chg="delSp mod modSldLayout">
        <pc:chgData name="Daniel Miat" userId="df643c2e-549b-4878-b6aa-de474b5fa2ff" providerId="ADAL" clId="{CD96B623-F594-43EB-B644-0F44F112ECF9}" dt="2025-11-28T07:57:09.334" v="153" actId="478"/>
        <pc:sldMasterMkLst>
          <pc:docMk/>
          <pc:sldMasterMk cId="3491360282" sldId="2147483660"/>
        </pc:sldMasterMkLst>
        <pc:spChg chg="del">
          <ac:chgData name="Daniel Miat" userId="df643c2e-549b-4878-b6aa-de474b5fa2ff" providerId="ADAL" clId="{CD96B623-F594-43EB-B644-0F44F112ECF9}" dt="2025-11-28T07:57:09.334" v="153" actId="478"/>
          <ac:spMkLst>
            <pc:docMk/>
            <pc:sldMasterMk cId="3491360282" sldId="2147483660"/>
            <ac:spMk id="5" creationId="{D4E1B7C8-DA74-800B-EE14-A39E9DB32DE4}"/>
          </ac:spMkLst>
        </pc:spChg>
        <pc:sldLayoutChg chg="addSp delSp mod">
          <pc:chgData name="Daniel Miat" userId="df643c2e-549b-4878-b6aa-de474b5fa2ff" providerId="ADAL" clId="{CD96B623-F594-43EB-B644-0F44F112ECF9}" dt="2025-11-28T07:53:48.788" v="150" actId="478"/>
          <pc:sldLayoutMkLst>
            <pc:docMk/>
            <pc:sldMasterMk cId="3491360282" sldId="2147483660"/>
            <pc:sldLayoutMk cId="2635321667" sldId="2147483664"/>
          </pc:sldLayoutMkLst>
          <pc:spChg chg="add del">
            <ac:chgData name="Daniel Miat" userId="df643c2e-549b-4878-b6aa-de474b5fa2ff" providerId="ADAL" clId="{CD96B623-F594-43EB-B644-0F44F112ECF9}" dt="2025-11-28T07:53:48.788" v="150" actId="478"/>
            <ac:spMkLst>
              <pc:docMk/>
              <pc:sldMasterMk cId="3491360282" sldId="2147483660"/>
              <pc:sldLayoutMk cId="2635321667" sldId="2147483664"/>
              <ac:spMk id="14" creationId="{BE8B118F-C188-2019-1C9E-6A452890CF96}"/>
            </ac:spMkLst>
          </pc:spChg>
        </pc:sldLayoutChg>
        <pc:sldLayoutChg chg="delSp modSp mod">
          <pc:chgData name="Daniel Miat" userId="df643c2e-549b-4878-b6aa-de474b5fa2ff" providerId="ADAL" clId="{CD96B623-F594-43EB-B644-0F44F112ECF9}" dt="2025-11-28T07:55:45.128" v="152" actId="478"/>
          <pc:sldLayoutMkLst>
            <pc:docMk/>
            <pc:sldMasterMk cId="3491360282" sldId="2147483660"/>
            <pc:sldLayoutMk cId="1749187066" sldId="2147483681"/>
          </pc:sldLayoutMkLst>
          <pc:spChg chg="del mod">
            <ac:chgData name="Daniel Miat" userId="df643c2e-549b-4878-b6aa-de474b5fa2ff" providerId="ADAL" clId="{CD96B623-F594-43EB-B644-0F44F112ECF9}" dt="2025-11-28T07:55:45.128" v="152" actId="478"/>
            <ac:spMkLst>
              <pc:docMk/>
              <pc:sldMasterMk cId="3491360282" sldId="2147483660"/>
              <pc:sldLayoutMk cId="1749187066" sldId="2147483681"/>
              <ac:spMk id="6" creationId="{C2BDD5A2-CE3E-3215-6DAA-F75C0D1229DA}"/>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5FF09-191C-41A7-B58F-D155EBE1B5F2}" type="datetimeFigureOut">
              <a:t>11/28/2025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B4F1A0-DD49-4593-9D2B-4A307D7DA6C5}" type="slidenum">
              <a:t>‹#›</a:t>
            </a:fld>
            <a:endParaRPr lang="en-US"/>
          </a:p>
        </p:txBody>
      </p:sp>
    </p:spTree>
    <p:extLst>
      <p:ext uri="{BB962C8B-B14F-4D97-AF65-F5344CB8AC3E}">
        <p14:creationId xmlns:p14="http://schemas.microsoft.com/office/powerpoint/2010/main" val="160716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62E2C1D9-3F49-4212-A113-7ED93037BC37}" type="slidenum">
              <a:t>1</a:t>
            </a:fld>
            <a:endParaRPr lang="en-US"/>
          </a:p>
        </p:txBody>
      </p:sp>
    </p:spTree>
    <p:extLst>
      <p:ext uri="{BB962C8B-B14F-4D97-AF65-F5344CB8AC3E}">
        <p14:creationId xmlns:p14="http://schemas.microsoft.com/office/powerpoint/2010/main" val="2589731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&amp; Overview of the Pipeline</a:t>
            </a:r>
          </a:p>
        </p:txBody>
      </p:sp>
      <p:sp>
        <p:nvSpPr>
          <p:cNvPr id="4" name="Slide Number Placeholder 3"/>
          <p:cNvSpPr>
            <a:spLocks noGrp="1"/>
          </p:cNvSpPr>
          <p:nvPr>
            <p:ph type="sldNum" sz="quarter" idx="5"/>
          </p:nvPr>
        </p:nvSpPr>
        <p:spPr/>
        <p:txBody>
          <a:bodyPr/>
          <a:lstStyle/>
          <a:p>
            <a:fld id="{62E2C1D9-3F49-4212-A113-7ED93037BC37}" type="slidenum">
              <a:t>2</a:t>
            </a:fld>
            <a:endParaRPr lang="en-US"/>
          </a:p>
        </p:txBody>
      </p:sp>
    </p:spTree>
    <p:extLst>
      <p:ext uri="{BB962C8B-B14F-4D97-AF65-F5344CB8AC3E}">
        <p14:creationId xmlns:p14="http://schemas.microsoft.com/office/powerpoint/2010/main" val="3253207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automotive data pipeline project focuses on ingesting, transforming, and analyzing datasets from three major public sources: NHTSA (vehicle complaints), AFDC (alternative fuel stations), and EPA (vehicle fuel economy). The pipeline leverages Databricks and the Medallion architecture, which organizes data into Bronze (raw), Silver (cleansed), and Gold (aggregated) layers. This structured approach ensures scalability, data quality, and auditability. The primary objective is to create a robust system that supports actionable insights for vehicle safety, infrastructure planning, and sustainability. The pipeline design emphasizes reliability and flexibility, combining manual ingestion for quality control with automated processing for efficiency. By using Databricks, the solution benefits from native support for Python and SQL, Delta Lake for ACID-compliant storage, and integrated scheduling capabilities. The GitHub repository linked in the documentation provides all scripts, processed data samples, and dashboards, ensuring transparency and reproducibility. This overview sets the stage for understanding the technical decisions, automation strategies, and challenges addressed throughout the project.</a:t>
            </a:r>
          </a:p>
        </p:txBody>
      </p:sp>
      <p:sp>
        <p:nvSpPr>
          <p:cNvPr id="4" name="Slide Number Placeholder 3"/>
          <p:cNvSpPr>
            <a:spLocks noGrp="1"/>
          </p:cNvSpPr>
          <p:nvPr>
            <p:ph type="sldNum" sz="quarter" idx="5"/>
          </p:nvPr>
        </p:nvSpPr>
        <p:spPr/>
        <p:txBody>
          <a:bodyPr/>
          <a:lstStyle/>
          <a:p>
            <a:fld id="{62E2C1D9-3F49-4212-A113-7ED93037BC37}" type="slidenum">
              <a:t>3</a:t>
            </a:fld>
            <a:endParaRPr lang="en-US"/>
          </a:p>
        </p:txBody>
      </p:sp>
    </p:spTree>
    <p:extLst>
      <p:ext uri="{BB962C8B-B14F-4D97-AF65-F5344CB8AC3E}">
        <p14:creationId xmlns:p14="http://schemas.microsoft.com/office/powerpoint/2010/main" val="546856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of Scripts, How to Run Scripts</a:t>
            </a:r>
          </a:p>
        </p:txBody>
      </p:sp>
      <p:sp>
        <p:nvSpPr>
          <p:cNvPr id="4" name="Slide Number Placeholder 3"/>
          <p:cNvSpPr>
            <a:spLocks noGrp="1"/>
          </p:cNvSpPr>
          <p:nvPr>
            <p:ph type="sldNum" sz="quarter" idx="5"/>
          </p:nvPr>
        </p:nvSpPr>
        <p:spPr/>
        <p:txBody>
          <a:bodyPr/>
          <a:lstStyle/>
          <a:p>
            <a:fld id="{62E2C1D9-3F49-4212-A113-7ED93037BC37}" type="slidenum">
              <a:t>4</a:t>
            </a:fld>
            <a:endParaRPr lang="en-US"/>
          </a:p>
        </p:txBody>
      </p:sp>
    </p:spTree>
    <p:extLst>
      <p:ext uri="{BB962C8B-B14F-4D97-AF65-F5344CB8AC3E}">
        <p14:creationId xmlns:p14="http://schemas.microsoft.com/office/powerpoint/2010/main" val="175484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includes multiple scripts organized by data source within a GitHub repository. Each folder corresponds to a dataset—NHTSA, AFDC, or EPA—and contains Databricks notebooks with detailed Markdown comments explaining every step. These scripts cover ingestion, cleaning, transformation, and loading processes. For example, the NHTSA pipeline begins by downloading ZIP files, extracting contents, and reading raw text files into Spark DataFrames. It then applies schema definitions, adds timestamps for lineage, and writes data to Bronze Delta tables. Similar structured workflows exist for AFDC and EPA datasets, ensuring consistency across sources. The scripts also implement best practices such as schema enforcement, normalization of column names, and handling of null values using safe defaults. By organizing scripts in a modular fashion, the repository facilitates easy navigation and reuse. Each notebook is designed for clarity, enabling users to understand the logic behind transformations and replicate the process in their own environments.</a:t>
            </a:r>
          </a:p>
        </p:txBody>
      </p:sp>
      <p:sp>
        <p:nvSpPr>
          <p:cNvPr id="4" name="Slide Number Placeholder 3"/>
          <p:cNvSpPr>
            <a:spLocks noGrp="1"/>
          </p:cNvSpPr>
          <p:nvPr>
            <p:ph type="sldNum" sz="quarter" idx="5"/>
          </p:nvPr>
        </p:nvSpPr>
        <p:spPr/>
        <p:txBody>
          <a:bodyPr/>
          <a:lstStyle/>
          <a:p>
            <a:fld id="{62E2C1D9-3F49-4212-A113-7ED93037BC37}" type="slidenum">
              <a:t>5</a:t>
            </a:fld>
            <a:endParaRPr lang="en-US"/>
          </a:p>
        </p:txBody>
      </p:sp>
    </p:spTree>
    <p:extLst>
      <p:ext uri="{BB962C8B-B14F-4D97-AF65-F5344CB8AC3E}">
        <p14:creationId xmlns:p14="http://schemas.microsoft.com/office/powerpoint/2010/main" val="4250166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Running the scripts involves using Databricks notebooks within the platform’s interactive environment. Users should execute the notebooks sequentially, following the Medallion architecture flow: Bronze → Silver → Gold. The Bronze layer scripts handle raw ingestion, including downloading files, extracting archives, and loading data into Delta tables. Silver layer scripts focus on cleaning and standardizing data, applying transformations such as trimming whitespace, normalizing strings, and converting data types. Gold layer scripts finalize the dataset for analytics by enforcing schemas, casting fields, and optimizing for reporting. Each notebook includes Markdown cells that provide context and instructions, making execution straightforward. Users can trigger these notebooks manually or schedule them using Databricks Jobs for automation. Before running, ensure that the required storage paths (e.g., /mnt/datalake) are configured and that permissions are set correctly. This structured execution strategy guarantees reproducibility and maintains data integrity throughout the pipeline.</a:t>
            </a:r>
          </a:p>
        </p:txBody>
      </p:sp>
      <p:sp>
        <p:nvSpPr>
          <p:cNvPr id="4" name="Slide Number Placeholder 3"/>
          <p:cNvSpPr>
            <a:spLocks noGrp="1"/>
          </p:cNvSpPr>
          <p:nvPr>
            <p:ph type="sldNum" sz="quarter" idx="5"/>
          </p:nvPr>
        </p:nvSpPr>
        <p:spPr/>
        <p:txBody>
          <a:bodyPr/>
          <a:lstStyle/>
          <a:p>
            <a:fld id="{62E2C1D9-3F49-4212-A113-7ED93037BC37}" type="slidenum">
              <a:t>6</a:t>
            </a:fld>
            <a:endParaRPr lang="en-US"/>
          </a:p>
        </p:txBody>
      </p:sp>
    </p:spTree>
    <p:extLst>
      <p:ext uri="{BB962C8B-B14F-4D97-AF65-F5344CB8AC3E}">
        <p14:creationId xmlns:p14="http://schemas.microsoft.com/office/powerpoint/2010/main" val="2570969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Processing Decisions, Data Transformation Decisions</a:t>
            </a:r>
          </a:p>
        </p:txBody>
      </p:sp>
      <p:sp>
        <p:nvSpPr>
          <p:cNvPr id="4" name="Slide Number Placeholder 3"/>
          <p:cNvSpPr>
            <a:spLocks noGrp="1"/>
          </p:cNvSpPr>
          <p:nvPr>
            <p:ph type="sldNum" sz="quarter" idx="5"/>
          </p:nvPr>
        </p:nvSpPr>
        <p:spPr/>
        <p:txBody>
          <a:bodyPr/>
          <a:lstStyle/>
          <a:p>
            <a:fld id="{62E2C1D9-3F49-4212-A113-7ED93037BC37}" type="slidenum">
              <a:t>7</a:t>
            </a:fld>
            <a:endParaRPr lang="en-US"/>
          </a:p>
        </p:txBody>
      </p:sp>
    </p:spTree>
    <p:extLst>
      <p:ext uri="{BB962C8B-B14F-4D97-AF65-F5344CB8AC3E}">
        <p14:creationId xmlns:p14="http://schemas.microsoft.com/office/powerpoint/2010/main" val="2031997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processing decisions were critical to ensuring data quality and usability. The pipeline implements trimming of whitespace and normalization of string fields to eliminate inconsistencies that could affect joins and aggregations. Null values are handled using type-appropriate defaults: strings are replaced with 'UNKNOWN,' integers with -1, floats with -1.0, and booleans with False. This approach preserves column integrity without dropping potentially valuable fields. Duplicate detection is performed using unique identifiers such as CMPLID for NHTSA complaints, ensuring that records remain distinct. Repartitioning strategies are applied to optimize file sizes and improve performance during read/write operations. These decisions collectively enhance the reliability of the Silver layer, creating a standardized dataset ready for transformation and analysis. By prioritizing data completeness and consistency, the pipeline supports downstream analytics and machine learning tasks without encountering schema or quality issues.</a:t>
            </a:r>
          </a:p>
        </p:txBody>
      </p:sp>
      <p:sp>
        <p:nvSpPr>
          <p:cNvPr id="4" name="Slide Number Placeholder 3"/>
          <p:cNvSpPr>
            <a:spLocks noGrp="1"/>
          </p:cNvSpPr>
          <p:nvPr>
            <p:ph type="sldNum" sz="quarter" idx="5"/>
          </p:nvPr>
        </p:nvSpPr>
        <p:spPr/>
        <p:txBody>
          <a:bodyPr/>
          <a:lstStyle/>
          <a:p>
            <a:fld id="{62E2C1D9-3F49-4212-A113-7ED93037BC37}" type="slidenum">
              <a:t>8</a:t>
            </a:fld>
            <a:endParaRPr lang="en-US"/>
          </a:p>
        </p:txBody>
      </p:sp>
    </p:spTree>
    <p:extLst>
      <p:ext uri="{BB962C8B-B14F-4D97-AF65-F5344CB8AC3E}">
        <p14:creationId xmlns:p14="http://schemas.microsoft.com/office/powerpoint/2010/main" val="1613129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Transformation decisions focused on creating analysis-ready datasets in the Gold layer. Key steps included applying strict schema enforcement to ensure compatibility with BI tools and analytics platforms. Categorical fields were standardized to maintain uniformity across dashboards, while numeric fields were cast to appropriate types for accurate calculations. Date and timestamp fields were parsed using consistent formats, enabling time-based queries and trend analysis. Columns containing only null or 'Unknown' values were dropped to reduce noise and improve clarity. For geospatial data in the AFDC dataset, latitude and longitude were cast to Decimal(9,6) for precision. Boolean fields were normalized to true/false values, supporting logical operations in queries. These transformations not only improved data quality but also optimized the structure for reporting and visualization. By implementing these decisions, the pipeline delivers clean, reliable datasets that empower stakeholders to derive actionable insights efficiently.</a:t>
            </a:r>
          </a:p>
        </p:txBody>
      </p:sp>
      <p:sp>
        <p:nvSpPr>
          <p:cNvPr id="4" name="Slide Number Placeholder 3"/>
          <p:cNvSpPr>
            <a:spLocks noGrp="1"/>
          </p:cNvSpPr>
          <p:nvPr>
            <p:ph type="sldNum" sz="quarter" idx="5"/>
          </p:nvPr>
        </p:nvSpPr>
        <p:spPr/>
        <p:txBody>
          <a:bodyPr/>
          <a:lstStyle/>
          <a:p>
            <a:fld id="{62E2C1D9-3F49-4212-A113-7ED93037BC37}" type="slidenum">
              <a:t>9</a:t>
            </a:fld>
            <a:endParaRPr lang="en-US"/>
          </a:p>
        </p:txBody>
      </p:sp>
    </p:spTree>
    <p:extLst>
      <p:ext uri="{BB962C8B-B14F-4D97-AF65-F5344CB8AC3E}">
        <p14:creationId xmlns:p14="http://schemas.microsoft.com/office/powerpoint/2010/main" val="152516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Loading Process, Automation Strategy</a:t>
            </a:r>
          </a:p>
        </p:txBody>
      </p:sp>
      <p:sp>
        <p:nvSpPr>
          <p:cNvPr id="4" name="Slide Number Placeholder 3"/>
          <p:cNvSpPr>
            <a:spLocks noGrp="1"/>
          </p:cNvSpPr>
          <p:nvPr>
            <p:ph type="sldNum" sz="quarter" idx="5"/>
          </p:nvPr>
        </p:nvSpPr>
        <p:spPr/>
        <p:txBody>
          <a:bodyPr/>
          <a:lstStyle/>
          <a:p>
            <a:fld id="{62E2C1D9-3F49-4212-A113-7ED93037BC37}" type="slidenum">
              <a:t>10</a:t>
            </a:fld>
            <a:endParaRPr lang="en-US"/>
          </a:p>
        </p:txBody>
      </p:sp>
    </p:spTree>
    <p:extLst>
      <p:ext uri="{BB962C8B-B14F-4D97-AF65-F5344CB8AC3E}">
        <p14:creationId xmlns:p14="http://schemas.microsoft.com/office/powerpoint/2010/main" val="1706361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 loading process leverages Delta Lake within Databricks to provide ACID-compliant storage and schema evolution capabilities. After processing, datasets are written to Bronze, Silver, and Gold Delta tables stored in DBFS paths such as /mnt/datalake. Each table is registered in the Databricks metastore, enabling SQL access and integration with BI tools. This structured approach ensures that data remains consistent and queryable across layers. The use of Delta Lake also supports time travel, allowing users to access historical versions of data for auditing or rollback purposes. By organizing data into distinct layers, the pipeline facilitates incremental updates and efficient resource utilization. This design aligns with modern data engineering best practices, providing a robust foundation for analytics and reporting.</a:t>
            </a:r>
          </a:p>
        </p:txBody>
      </p:sp>
      <p:sp>
        <p:nvSpPr>
          <p:cNvPr id="4" name="Slide Number Placeholder 3"/>
          <p:cNvSpPr>
            <a:spLocks noGrp="1"/>
          </p:cNvSpPr>
          <p:nvPr>
            <p:ph type="sldNum" sz="quarter" idx="5"/>
          </p:nvPr>
        </p:nvSpPr>
        <p:spPr/>
        <p:txBody>
          <a:bodyPr/>
          <a:lstStyle/>
          <a:p>
            <a:fld id="{62E2C1D9-3F49-4212-A113-7ED93037BC37}" type="slidenum">
              <a:t>11</a:t>
            </a:fld>
            <a:endParaRPr lang="en-US"/>
          </a:p>
        </p:txBody>
      </p:sp>
    </p:spTree>
    <p:extLst>
      <p:ext uri="{BB962C8B-B14F-4D97-AF65-F5344CB8AC3E}">
        <p14:creationId xmlns:p14="http://schemas.microsoft.com/office/powerpoint/2010/main" val="4076171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automation strategy combines manual and automated steps to balance reliability and efficiency. Manual ingestion is employed for downloading and validating source data from public APIs, mitigating risks associated with API downtime, rate limits, and corrupted files. Once data is uploaded to cloud storage or DBFS, automated workflows take over using Databricks Jobs or Delta Live Tables. These jobs handle transformations across Bronze, Silver, and Gold layers, applying cleaning, enrichment, and aggregation logic. Scheduling ensures pipelines run on a fixed cadence or trigger upon new file arrivals. Monitoring and alerting mechanisms are integrated to detect errors and maintain operational continuity. This hybrid approach provides control over external dependencies while leveraging automation for internal processes, resulting in a scalable and resilient pipeline.</a:t>
            </a:r>
          </a:p>
        </p:txBody>
      </p:sp>
      <p:sp>
        <p:nvSpPr>
          <p:cNvPr id="4" name="Slide Number Placeholder 3"/>
          <p:cNvSpPr>
            <a:spLocks noGrp="1"/>
          </p:cNvSpPr>
          <p:nvPr>
            <p:ph type="sldNum" sz="quarter" idx="5"/>
          </p:nvPr>
        </p:nvSpPr>
        <p:spPr/>
        <p:txBody>
          <a:bodyPr/>
          <a:lstStyle/>
          <a:p>
            <a:fld id="{62E2C1D9-3F49-4212-A113-7ED93037BC37}" type="slidenum">
              <a:t>12</a:t>
            </a:fld>
            <a:endParaRPr lang="en-US"/>
          </a:p>
        </p:txBody>
      </p:sp>
    </p:spTree>
    <p:extLst>
      <p:ext uri="{BB962C8B-B14F-4D97-AF65-F5344CB8AC3E}">
        <p14:creationId xmlns:p14="http://schemas.microsoft.com/office/powerpoint/2010/main" val="1952707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 Faced, Solutions Implemented</a:t>
            </a:r>
          </a:p>
        </p:txBody>
      </p:sp>
      <p:sp>
        <p:nvSpPr>
          <p:cNvPr id="4" name="Slide Number Placeholder 3"/>
          <p:cNvSpPr>
            <a:spLocks noGrp="1"/>
          </p:cNvSpPr>
          <p:nvPr>
            <p:ph type="sldNum" sz="quarter" idx="5"/>
          </p:nvPr>
        </p:nvSpPr>
        <p:spPr/>
        <p:txBody>
          <a:bodyPr/>
          <a:lstStyle/>
          <a:p>
            <a:fld id="{62E2C1D9-3F49-4212-A113-7ED93037BC37}" type="slidenum">
              <a:t>13</a:t>
            </a:fld>
            <a:endParaRPr lang="en-US"/>
          </a:p>
        </p:txBody>
      </p:sp>
    </p:spTree>
    <p:extLst>
      <p:ext uri="{BB962C8B-B14F-4D97-AF65-F5344CB8AC3E}">
        <p14:creationId xmlns:p14="http://schemas.microsoft.com/office/powerpoint/2010/main" val="2863818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challenges emerged during the project. API ingestion proved unreliable due to timeouts, network errors, and service instability, making direct integration with Spark problematic. Large initial ZIP files posed memory constraints and were difficult to process efficiently. Handling null values without dropping columns was another significant challenge, as columns might still hold analytical value despite missing data. These issues required careful consideration to prevent pipeline failures and maintain data integrity. Additionally, ensuring schema consistency across diverse datasets introduced complexity, particularly when dealing with evolving data structures and inconsistent formats from public sources.</a:t>
            </a:r>
          </a:p>
        </p:txBody>
      </p:sp>
      <p:sp>
        <p:nvSpPr>
          <p:cNvPr id="4" name="Slide Number Placeholder 3"/>
          <p:cNvSpPr>
            <a:spLocks noGrp="1"/>
          </p:cNvSpPr>
          <p:nvPr>
            <p:ph type="sldNum" sz="quarter" idx="5"/>
          </p:nvPr>
        </p:nvSpPr>
        <p:spPr/>
        <p:txBody>
          <a:bodyPr/>
          <a:lstStyle/>
          <a:p>
            <a:fld id="{62E2C1D9-3F49-4212-A113-7ED93037BC37}" type="slidenum">
              <a:t>14</a:t>
            </a:fld>
            <a:endParaRPr lang="en-US"/>
          </a:p>
        </p:txBody>
      </p:sp>
    </p:spTree>
    <p:extLst>
      <p:ext uri="{BB962C8B-B14F-4D97-AF65-F5344CB8AC3E}">
        <p14:creationId xmlns:p14="http://schemas.microsoft.com/office/powerpoint/2010/main" val="2516495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address these challenges, the team implemented several solutions. For API instability, manual downloads followed by uploads to DBFS provided a controlled ingestion process. Large ZIP files were handled using chunk-based streaming and Python’s zipfile module, reducing memory usage and preventing crashes. PowerQuery was used to split oversized datasets into manageable parts for ingestion. Null values were replaced with type-appropriate defaults—such as 'UNKNOWN' for strings and -1 for numeric fields—ensuring completeness without sacrificing analytical potential. These strategies collectively enhanced pipeline reliability, data quality, and operational efficiency, enabling successful execution of the project objectives.</a:t>
            </a:r>
          </a:p>
        </p:txBody>
      </p:sp>
      <p:sp>
        <p:nvSpPr>
          <p:cNvPr id="4" name="Slide Number Placeholder 3"/>
          <p:cNvSpPr>
            <a:spLocks noGrp="1"/>
          </p:cNvSpPr>
          <p:nvPr>
            <p:ph type="sldNum" sz="quarter" idx="5"/>
          </p:nvPr>
        </p:nvSpPr>
        <p:spPr/>
        <p:txBody>
          <a:bodyPr/>
          <a:lstStyle/>
          <a:p>
            <a:fld id="{62E2C1D9-3F49-4212-A113-7ED93037BC37}" type="slidenum">
              <a:t>15</a:t>
            </a:fld>
            <a:endParaRPr lang="en-US"/>
          </a:p>
        </p:txBody>
      </p:sp>
    </p:spTree>
    <p:extLst>
      <p:ext uri="{BB962C8B-B14F-4D97-AF65-F5344CB8AC3E}">
        <p14:creationId xmlns:p14="http://schemas.microsoft.com/office/powerpoint/2010/main" val="40565257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 Insights &amp; Dashboards</a:t>
            </a:r>
          </a:p>
        </p:txBody>
      </p:sp>
      <p:sp>
        <p:nvSpPr>
          <p:cNvPr id="4" name="Slide Number Placeholder 3"/>
          <p:cNvSpPr>
            <a:spLocks noGrp="1"/>
          </p:cNvSpPr>
          <p:nvPr>
            <p:ph type="sldNum" sz="quarter" idx="5"/>
          </p:nvPr>
        </p:nvSpPr>
        <p:spPr/>
        <p:txBody>
          <a:bodyPr/>
          <a:lstStyle/>
          <a:p>
            <a:fld id="{62E2C1D9-3F49-4212-A113-7ED93037BC37}" type="slidenum">
              <a:t>16</a:t>
            </a:fld>
            <a:endParaRPr lang="en-US"/>
          </a:p>
        </p:txBody>
      </p:sp>
    </p:spTree>
    <p:extLst>
      <p:ext uri="{BB962C8B-B14F-4D97-AF65-F5344CB8AC3E}">
        <p14:creationId xmlns:p14="http://schemas.microsoft.com/office/powerpoint/2010/main" val="1683740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Gold-layer datasets served as the foundation for dashboards that deliver actionable insights. For NHTSA data, dashboards highlight complaints by manufacturer, top failing components, and trends over time, guiding quality improvement and recall strategies. AFDC dashboards analyze station coverage by state, access type distribution, and incomplete records, supporting infrastructure planning and data quality initiatives. EPA dashboards focus on fuel efficiency by model, average annual fuel costs by vehicle class, and CO2 emissions by manufacturer, informing sustainability and fleet management decisions. These visualizations enable stakeholders to make informed, data-driven decisions that enhance safety, efficiency, and environmental performance across the automotive industry.</a:t>
            </a:r>
          </a:p>
        </p:txBody>
      </p:sp>
      <p:sp>
        <p:nvSpPr>
          <p:cNvPr id="4" name="Slide Number Placeholder 3"/>
          <p:cNvSpPr>
            <a:spLocks noGrp="1"/>
          </p:cNvSpPr>
          <p:nvPr>
            <p:ph type="sldNum" sz="quarter" idx="5"/>
          </p:nvPr>
        </p:nvSpPr>
        <p:spPr/>
        <p:txBody>
          <a:bodyPr/>
          <a:lstStyle/>
          <a:p>
            <a:fld id="{62E2C1D9-3F49-4212-A113-7ED93037BC37}" type="slidenum">
              <a:t>17</a:t>
            </a:fld>
            <a:endParaRPr lang="en-US"/>
          </a:p>
        </p:txBody>
      </p:sp>
    </p:spTree>
    <p:extLst>
      <p:ext uri="{BB962C8B-B14F-4D97-AF65-F5344CB8AC3E}">
        <p14:creationId xmlns:p14="http://schemas.microsoft.com/office/powerpoint/2010/main" val="28494477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a:prstGeom prst="rect">
            <a:avLst/>
          </a:prstGeo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E67158A3-397F-408E-8D95-9167473E3C13}"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991426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C300620-019D-4D19-A53B-60DA18825871}" type="datetime1">
              <a:rPr lang="en-US" smtClean="0"/>
              <a:t>11/28/2025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5808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4206" y="216426"/>
            <a:ext cx="4064673" cy="3934950"/>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2880" y="4846320"/>
            <a:ext cx="4035999" cy="1380744"/>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5" y="6387737"/>
            <a:ext cx="2140360" cy="338328"/>
          </a:xfrm>
          <a:prstGeom prst="rect">
            <a:avLst/>
          </a:prstGeo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defRPr>
            </a:lvl1pPr>
          </a:lstStyle>
          <a:p>
            <a:fld id="{1CED4291-5AEF-4888-87C3-3A4C344FA7F7}"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12" name="Picture Placeholder 11">
            <a:extLst>
              <a:ext uri="{FF2B5EF4-FFF2-40B4-BE49-F238E27FC236}">
                <a16:creationId xmlns:a16="http://schemas.microsoft.com/office/drawing/2014/main" id="{01953364-E558-970A-5425-4AFF617AEAAF}"/>
              </a:ext>
            </a:extLst>
          </p:cNvPr>
          <p:cNvSpPr>
            <a:spLocks noGrp="1"/>
          </p:cNvSpPr>
          <p:nvPr>
            <p:ph type="pic" sz="quarter" idx="13" hasCustomPrompt="1"/>
          </p:nvPr>
        </p:nvSpPr>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9966825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13116" y="1043184"/>
            <a:ext cx="3459903" cy="2906647"/>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13117" y="4692866"/>
            <a:ext cx="3361935"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4" name="Picture Placeholder 13">
            <a:extLst>
              <a:ext uri="{FF2B5EF4-FFF2-40B4-BE49-F238E27FC236}">
                <a16:creationId xmlns:a16="http://schemas.microsoft.com/office/drawing/2014/main" id="{BE8B118F-C188-2019-1C9E-6A452890CF96}"/>
              </a:ext>
            </a:extLst>
          </p:cNvPr>
          <p:cNvSpPr>
            <a:spLocks noGrp="1"/>
          </p:cNvSpPr>
          <p:nvPr>
            <p:ph type="pic" sz="quarter" idx="13" hasCustomPrompt="1"/>
          </p:nvPr>
        </p:nvSpPr>
        <p:spPr>
          <a:xfrm>
            <a:off x="0" y="0"/>
            <a:ext cx="12192000" cy="685800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33223" y="6387737"/>
            <a:ext cx="2140360" cy="338328"/>
          </a:xfrm>
          <a:prstGeom prst="rect">
            <a:avLst/>
          </a:prstGeo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CD73B59E-B4D0-44C3-B97A-E870DE27A38E}"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63532166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17480" y="1043185"/>
            <a:ext cx="3459903" cy="2607816"/>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17481" y="4692866"/>
            <a:ext cx="3459902"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B93E65DC-EA13-A100-8BB0-C29D33F1646A}"/>
              </a:ext>
            </a:extLst>
          </p:cNvPr>
          <p:cNvSpPr>
            <a:spLocks noGrp="1"/>
          </p:cNvSpPr>
          <p:nvPr>
            <p:ph type="pic" sz="quarter" idx="13" hasCustomPrompt="1"/>
          </p:nvPr>
        </p:nvSpPr>
        <p:spPr>
          <a:xfrm>
            <a:off x="0" y="0"/>
            <a:ext cx="12192000" cy="6858000"/>
          </a:xfrm>
          <a:custGeom>
            <a:avLst/>
            <a:gdLst>
              <a:gd name="connsiteX0" fmla="*/ 7809944 w 12192000"/>
              <a:gd name="connsiteY0" fmla="*/ 820064 h 6858000"/>
              <a:gd name="connsiteX1" fmla="*/ 7496526 w 12192000"/>
              <a:gd name="connsiteY1" fmla="*/ 1133482 h 6858000"/>
              <a:gd name="connsiteX2" fmla="*/ 7496526 w 12192000"/>
              <a:gd name="connsiteY2" fmla="*/ 5748267 h 6858000"/>
              <a:gd name="connsiteX3" fmla="*/ 7809944 w 12192000"/>
              <a:gd name="connsiteY3" fmla="*/ 6061685 h 6858000"/>
              <a:gd name="connsiteX4" fmla="*/ 11058202 w 12192000"/>
              <a:gd name="connsiteY4" fmla="*/ 6061685 h 6858000"/>
              <a:gd name="connsiteX5" fmla="*/ 11371620 w 12192000"/>
              <a:gd name="connsiteY5" fmla="*/ 5748267 h 6858000"/>
              <a:gd name="connsiteX6" fmla="*/ 11371620 w 12192000"/>
              <a:gd name="connsiteY6" fmla="*/ 1133482 h 6858000"/>
              <a:gd name="connsiteX7" fmla="*/ 11058202 w 12192000"/>
              <a:gd name="connsiteY7" fmla="*/ 820064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809944" y="820064"/>
                </a:moveTo>
                <a:cubicBezTo>
                  <a:pt x="7636848" y="820064"/>
                  <a:pt x="7496526" y="960386"/>
                  <a:pt x="7496526" y="1133482"/>
                </a:cubicBezTo>
                <a:lnTo>
                  <a:pt x="7496526" y="5748267"/>
                </a:lnTo>
                <a:cubicBezTo>
                  <a:pt x="7496526" y="5921363"/>
                  <a:pt x="7636848" y="6061685"/>
                  <a:pt x="7809944" y="6061685"/>
                </a:cubicBezTo>
                <a:lnTo>
                  <a:pt x="11058202" y="6061685"/>
                </a:lnTo>
                <a:cubicBezTo>
                  <a:pt x="11231298" y="6061685"/>
                  <a:pt x="11371620" y="5921363"/>
                  <a:pt x="11371620" y="5748267"/>
                </a:cubicBezTo>
                <a:lnTo>
                  <a:pt x="11371620" y="1133482"/>
                </a:lnTo>
                <a:cubicBezTo>
                  <a:pt x="11371620" y="960386"/>
                  <a:pt x="11231298" y="820064"/>
                  <a:pt x="11058202" y="820064"/>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05700" y="6387737"/>
            <a:ext cx="2140360" cy="338328"/>
          </a:xfrm>
          <a:prstGeom prst="rect">
            <a:avLst/>
          </a:prstGeo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03089"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C9A02B60-46B7-4D5C-83A3-C25CCE19C48A}"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987809"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63033818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8305" y="208156"/>
            <a:ext cx="5729095" cy="3135408"/>
          </a:xfrm>
        </p:spPr>
        <p:txBody>
          <a:bodyPr vert="horz" lIns="91440" tIns="45720" rIns="91440" bIns="45720" rtlCol="0" anchor="t">
            <a:normAutofit/>
          </a:bodyPr>
          <a:lstStyle>
            <a:lvl1pPr>
              <a:defRPr lang="en-US" sz="6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46320"/>
            <a:ext cx="4462346"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792911" y="6387128"/>
            <a:ext cx="1032084" cy="338328"/>
          </a:xfrm>
        </p:spPr>
        <p:txBody>
          <a:bodyPr/>
          <a:lstStyle>
            <a:lvl1pPr>
              <a:defRPr>
                <a:solidFill>
                  <a:schemeClr val="tx2"/>
                </a:solidFill>
                <a:effectLst/>
              </a:defRPr>
            </a:lvl1pPr>
          </a:lstStyle>
          <a:p>
            <a:fld id="{078CFD34-F812-4042-ABCD-351DD975CBAF}"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24995" y="6387128"/>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9" name="Picture Placeholder 8">
            <a:extLst>
              <a:ext uri="{FF2B5EF4-FFF2-40B4-BE49-F238E27FC236}">
                <a16:creationId xmlns:a16="http://schemas.microsoft.com/office/drawing/2014/main" id="{C18560C4-8760-7FBD-159D-6CA9346253D5}"/>
              </a:ext>
            </a:extLst>
          </p:cNvPr>
          <p:cNvSpPr>
            <a:spLocks noGrp="1"/>
          </p:cNvSpPr>
          <p:nvPr>
            <p:ph type="pic" sz="quarter" idx="13" hasCustomPrompt="1"/>
          </p:nvPr>
        </p:nvSpPr>
        <p:spPr>
          <a:xfrm>
            <a:off x="7514371" y="266700"/>
            <a:ext cx="4410930" cy="6324600"/>
          </a:xfrm>
          <a:custGeom>
            <a:avLst/>
            <a:gdLst>
              <a:gd name="connsiteX0" fmla="*/ 275374 w 4410930"/>
              <a:gd name="connsiteY0" fmla="*/ 0 h 6324600"/>
              <a:gd name="connsiteX1" fmla="*/ 4135556 w 4410930"/>
              <a:gd name="connsiteY1" fmla="*/ 0 h 6324600"/>
              <a:gd name="connsiteX2" fmla="*/ 4410930 w 4410930"/>
              <a:gd name="connsiteY2" fmla="*/ 275374 h 6324600"/>
              <a:gd name="connsiteX3" fmla="*/ 4410930 w 4410930"/>
              <a:gd name="connsiteY3" fmla="*/ 6049226 h 6324600"/>
              <a:gd name="connsiteX4" fmla="*/ 4135556 w 4410930"/>
              <a:gd name="connsiteY4" fmla="*/ 6324600 h 6324600"/>
              <a:gd name="connsiteX5" fmla="*/ 275374 w 4410930"/>
              <a:gd name="connsiteY5" fmla="*/ 6324600 h 6324600"/>
              <a:gd name="connsiteX6" fmla="*/ 0 w 4410930"/>
              <a:gd name="connsiteY6" fmla="*/ 6049226 h 6324600"/>
              <a:gd name="connsiteX7" fmla="*/ 0 w 4410930"/>
              <a:gd name="connsiteY7" fmla="*/ 275374 h 6324600"/>
              <a:gd name="connsiteX8" fmla="*/ 275374 w 441093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930" h="6324600">
                <a:moveTo>
                  <a:pt x="275374" y="0"/>
                </a:moveTo>
                <a:lnTo>
                  <a:pt x="4135556" y="0"/>
                </a:lnTo>
                <a:cubicBezTo>
                  <a:pt x="4287641" y="0"/>
                  <a:pt x="4410930" y="123289"/>
                  <a:pt x="4410930" y="275374"/>
                </a:cubicBezTo>
                <a:lnTo>
                  <a:pt x="4410930" y="6049226"/>
                </a:lnTo>
                <a:cubicBezTo>
                  <a:pt x="4410930" y="6201311"/>
                  <a:pt x="4287641" y="6324600"/>
                  <a:pt x="4135556" y="6324600"/>
                </a:cubicBezTo>
                <a:lnTo>
                  <a:pt x="275374" y="6324600"/>
                </a:lnTo>
                <a:cubicBezTo>
                  <a:pt x="123289" y="6324600"/>
                  <a:pt x="0" y="6201311"/>
                  <a:pt x="0" y="6049226"/>
                </a:cubicBezTo>
                <a:lnTo>
                  <a:pt x="0" y="275374"/>
                </a:lnTo>
                <a:cubicBezTo>
                  <a:pt x="0" y="123289"/>
                  <a:pt x="123289" y="0"/>
                  <a:pt x="275374"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6883007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a:prstGeom prst="rect">
            <a:avLst/>
          </a:prstGeo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F556EBA-4452-423F-AF83-1429C1D298DB}"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68507483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3816" y="199795"/>
            <a:ext cx="8777428" cy="364068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98361"/>
            <a:ext cx="5675450" cy="1334847"/>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3A20BD1-51E7-4DD6-ACD5-B24A6CA2267C}"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12781841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781C983-F788-40EE-974D-03A2B6F4B4DC}"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10739797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512" y="192360"/>
            <a:ext cx="11812264" cy="4157003"/>
          </a:xfrm>
        </p:spPr>
        <p:txBody>
          <a:bodyPr vert="horz" lIns="91440" tIns="45720" rIns="91440" bIns="45720" rtlCol="0" anchor="t">
            <a:normAutofit/>
          </a:bodyPr>
          <a:lstStyle>
            <a:lvl1pPr>
              <a:defRPr lang="en-US" sz="115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5029200"/>
            <a:ext cx="5681546" cy="1204009"/>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B2A935-B630-4DF8-9576-B9D447B22AA5}" type="datetime1">
              <a:rPr lang="en-US" smtClean="0"/>
              <a:t>11/28/2025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8842066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a:prstGeom prst="rect">
            <a:avLst/>
          </a:prstGeo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6A32CEF1-A10F-4F72-897A-B5B2015C4486}" type="datetime1">
              <a:rPr lang="en-US" smtClean="0"/>
              <a:t>11/28/2025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18340219"/>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CE8EEA2A-8C22-4CDF-9CB4-40FE53E7A07E}" type="datetime1">
              <a:rPr lang="en-US" smtClean="0"/>
              <a:t>11/28/2025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5437088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349625C-C0D3-4498-947E-8C2217751D7B}" type="datetime1">
              <a:rPr lang="en-US" smtClean="0"/>
              <a:t>11/28/2025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730278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515973" y="1010652"/>
            <a:ext cx="3437576" cy="1366457"/>
          </a:xfrm>
        </p:spPr>
        <p:txBody>
          <a:bodyPr anchor="t">
            <a:noAutofit/>
          </a:bodyPr>
          <a:lstStyle>
            <a:lvl1pPr>
              <a:defRPr sz="5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4" y="2377109"/>
            <a:ext cx="3437576" cy="3393239"/>
          </a:xfrm>
        </p:spPr>
        <p:txBody>
          <a:bodyPr vert="horz" lIns="91440" tIns="45720" rIns="91440" bIns="45720" rtlCol="0" anchor="b">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
        <p:nvSpPr>
          <p:cNvPr id="12" name="Picture Placeholder 11">
            <a:extLst>
              <a:ext uri="{FF2B5EF4-FFF2-40B4-BE49-F238E27FC236}">
                <a16:creationId xmlns:a16="http://schemas.microsoft.com/office/drawing/2014/main" id="{1739F752-D848-0871-8BE8-DE94F03F5A34}"/>
              </a:ext>
            </a:extLst>
          </p:cNvPr>
          <p:cNvSpPr>
            <a:spLocks noGrp="1"/>
          </p:cNvSpPr>
          <p:nvPr>
            <p:ph type="pic" sz="quarter" idx="14" hasCustomPrompt="1"/>
          </p:nvPr>
        </p:nvSpPr>
        <p:spPr>
          <a:xfrm>
            <a:off x="0" y="0"/>
            <a:ext cx="12192000" cy="6858000"/>
          </a:xfrm>
          <a:custGeom>
            <a:avLst/>
            <a:gdLst>
              <a:gd name="connsiteX0" fmla="*/ 7608643 w 12192000"/>
              <a:gd name="connsiteY0" fmla="*/ 808189 h 6858000"/>
              <a:gd name="connsiteX1" fmla="*/ 7295225 w 12192000"/>
              <a:gd name="connsiteY1" fmla="*/ 1121607 h 6858000"/>
              <a:gd name="connsiteX2" fmla="*/ 7295225 w 12192000"/>
              <a:gd name="connsiteY2" fmla="*/ 5736392 h 6858000"/>
              <a:gd name="connsiteX3" fmla="*/ 7608643 w 12192000"/>
              <a:gd name="connsiteY3" fmla="*/ 6049810 h 6858000"/>
              <a:gd name="connsiteX4" fmla="*/ 10856901 w 12192000"/>
              <a:gd name="connsiteY4" fmla="*/ 6049810 h 6858000"/>
              <a:gd name="connsiteX5" fmla="*/ 11170319 w 12192000"/>
              <a:gd name="connsiteY5" fmla="*/ 5736392 h 6858000"/>
              <a:gd name="connsiteX6" fmla="*/ 11170319 w 12192000"/>
              <a:gd name="connsiteY6" fmla="*/ 1121607 h 6858000"/>
              <a:gd name="connsiteX7" fmla="*/ 10856901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608643" y="808189"/>
                </a:moveTo>
                <a:cubicBezTo>
                  <a:pt x="7435547" y="808189"/>
                  <a:pt x="7295225" y="948511"/>
                  <a:pt x="7295225" y="1121607"/>
                </a:cubicBezTo>
                <a:lnTo>
                  <a:pt x="7295225" y="5736392"/>
                </a:lnTo>
                <a:cubicBezTo>
                  <a:pt x="7295225" y="5909488"/>
                  <a:pt x="7435547" y="6049810"/>
                  <a:pt x="7608643" y="6049810"/>
                </a:cubicBezTo>
                <a:lnTo>
                  <a:pt x="10856901" y="6049810"/>
                </a:lnTo>
                <a:cubicBezTo>
                  <a:pt x="11029997" y="6049810"/>
                  <a:pt x="11170319" y="5909488"/>
                  <a:pt x="11170319" y="5736392"/>
                </a:cubicBezTo>
                <a:lnTo>
                  <a:pt x="11170319" y="1121607"/>
                </a:lnTo>
                <a:cubicBezTo>
                  <a:pt x="11170319" y="948511"/>
                  <a:pt x="11029997" y="808189"/>
                  <a:pt x="10856901"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a:prstGeom prst="rect">
            <a:avLst/>
          </a:prstGeom>
        </p:spPr>
        <p:txBody>
          <a:bodyPr/>
          <a:lstStyle>
            <a:lvl1pPr>
              <a:defRPr>
                <a:solidFill>
                  <a:schemeClr val="bg2"/>
                </a:solidFill>
                <a:effectLst>
                  <a:outerShdw blurRad="38100" dist="38100" dir="2700000" algn="tl">
                    <a:srgbClr val="000000">
                      <a:alpha val="43137"/>
                    </a:srgbClr>
                  </a:outerShdw>
                </a:effectLst>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2"/>
                </a:solidFill>
                <a:effectLst>
                  <a:outerShdw blurRad="38100" dist="38100" dir="2700000" algn="tl">
                    <a:srgbClr val="000000">
                      <a:alpha val="43137"/>
                    </a:srgbClr>
                  </a:outerShdw>
                </a:effectLst>
              </a:defRPr>
            </a:lvl1pPr>
          </a:lstStyle>
          <a:p>
            <a:fld id="{605883FD-C444-4803-BA14-EBC47E05D3C7}" type="datetime1">
              <a:rPr lang="en-US" smtClean="0"/>
              <a:t>11/28/2025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61075441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91840" y="1719072"/>
            <a:ext cx="5623560" cy="1188720"/>
          </a:xfrm>
        </p:spPr>
        <p:txBody>
          <a:bodyPr anchor="ctr">
            <a:normAutofit/>
          </a:bodyPr>
          <a:lstStyle>
            <a:lvl1pPr algn="ctr">
              <a:defRPr sz="32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6200" y="3136392"/>
            <a:ext cx="4425696" cy="2121408"/>
          </a:xfrm>
        </p:spPr>
        <p:txBody>
          <a:bodyPr vert="horz" lIns="91440" tIns="45720" rIns="91440" bIns="45720" rtlCol="0">
            <a:normAutofit/>
          </a:bodyPr>
          <a:lstStyle>
            <a:lvl1pPr marL="0" indent="0" algn="ctr">
              <a:buNone/>
              <a:defRPr lang="en-US" dirty="0"/>
            </a:lvl1pPr>
            <a:lvl2pPr marL="228600" indent="0" algn="ctr">
              <a:buNone/>
              <a:defRPr lang="en-US" dirty="0"/>
            </a:lvl2pPr>
            <a:lvl3pPr marL="457200" indent="0" algn="ctr">
              <a:buNone/>
              <a:defRPr lang="en-US" dirty="0"/>
            </a:lvl3pPr>
            <a:lvl4pPr marL="685800" indent="0" algn="ctr">
              <a:buNone/>
              <a:defRPr lang="en-US" dirty="0"/>
            </a:lvl4pPr>
            <a:lvl5pPr marL="9144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5B8F892-3D16-4A62-951E-FA5AB39FA9D8}" type="datetime1">
              <a:rPr lang="en-US" smtClean="0"/>
              <a:t>11/28/2025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62372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0" y="1638300"/>
            <a:ext cx="3114136" cy="379911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19472" y="1638300"/>
            <a:ext cx="4800600" cy="3799114"/>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834949-AE6B-4CFD-88CC-353FD577A431}" type="datetime1">
              <a:rPr lang="en-US" smtClean="0"/>
              <a:t>11/28/2025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14577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C079BA-54A6-4DFA-BC05-651B48C27D7D}" type="datetime1">
              <a:rPr lang="en-US" smtClean="0"/>
              <a:t>11/28/2025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6994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296" y="990601"/>
            <a:ext cx="3168695" cy="343754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8888" y="990600"/>
            <a:ext cx="6126480" cy="514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BC616FB-F924-4DAA-8E6D-304EEC7E6FC0}" type="datetime1">
              <a:rPr lang="en-US" smtClean="0"/>
              <a:t>11/28/2025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58907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2A674E2-DB18-4C96-89E4-7C3244E232ED}" type="datetime1">
              <a:rPr lang="en-US" smtClean="0"/>
              <a:t>11/28/2025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13862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6AF3005-A1F4-4825-941C-F64921B2C34C}"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244956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E079A44E-00C3-4475-8FAE-01209F97089B}"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749187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8F3E0B3-8F66-46A0-898C-BAA45E8AC9FD}"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38869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5587F3B6-5A57-4FD4-84AF-ABCC03FFE7AB}"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9363622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19900" y="219456"/>
            <a:ext cx="4689685" cy="1164658"/>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8B393C6F-81AD-C678-191F-0FD783654DC1}"/>
              </a:ext>
            </a:extLst>
          </p:cNvPr>
          <p:cNvSpPr>
            <a:spLocks noGrp="1"/>
          </p:cNvSpPr>
          <p:nvPr>
            <p:ph type="pic" sz="quarter" idx="13" hasCustomPrompt="1"/>
          </p:nvPr>
        </p:nvSpPr>
        <p:spPr>
          <a:xfrm>
            <a:off x="274320" y="266700"/>
            <a:ext cx="6292984" cy="6324600"/>
          </a:xfrm>
          <a:custGeom>
            <a:avLst/>
            <a:gdLst>
              <a:gd name="connsiteX0" fmla="*/ 300805 w 6292984"/>
              <a:gd name="connsiteY0" fmla="*/ 0 h 6324600"/>
              <a:gd name="connsiteX1" fmla="*/ 5992179 w 6292984"/>
              <a:gd name="connsiteY1" fmla="*/ 0 h 6324600"/>
              <a:gd name="connsiteX2" fmla="*/ 6292984 w 6292984"/>
              <a:gd name="connsiteY2" fmla="*/ 300805 h 6324600"/>
              <a:gd name="connsiteX3" fmla="*/ 6292984 w 6292984"/>
              <a:gd name="connsiteY3" fmla="*/ 6023795 h 6324600"/>
              <a:gd name="connsiteX4" fmla="*/ 5992179 w 6292984"/>
              <a:gd name="connsiteY4" fmla="*/ 6324600 h 6324600"/>
              <a:gd name="connsiteX5" fmla="*/ 300805 w 6292984"/>
              <a:gd name="connsiteY5" fmla="*/ 6324600 h 6324600"/>
              <a:gd name="connsiteX6" fmla="*/ 0 w 6292984"/>
              <a:gd name="connsiteY6" fmla="*/ 6023795 h 6324600"/>
              <a:gd name="connsiteX7" fmla="*/ 0 w 6292984"/>
              <a:gd name="connsiteY7" fmla="*/ 300805 h 6324600"/>
              <a:gd name="connsiteX8" fmla="*/ 300805 w 6292984"/>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2984" h="6324600">
                <a:moveTo>
                  <a:pt x="300805" y="0"/>
                </a:moveTo>
                <a:lnTo>
                  <a:pt x="5992179" y="0"/>
                </a:lnTo>
                <a:cubicBezTo>
                  <a:pt x="6158309" y="0"/>
                  <a:pt x="6292984" y="134675"/>
                  <a:pt x="6292984" y="300805"/>
                </a:cubicBezTo>
                <a:lnTo>
                  <a:pt x="6292984" y="6023795"/>
                </a:lnTo>
                <a:cubicBezTo>
                  <a:pt x="6292984" y="6189925"/>
                  <a:pt x="6158309" y="6324600"/>
                  <a:pt x="5992179" y="6324600"/>
                </a:cubicBezTo>
                <a:lnTo>
                  <a:pt x="300805" y="6324600"/>
                </a:lnTo>
                <a:cubicBezTo>
                  <a:pt x="134675" y="6324600"/>
                  <a:pt x="0" y="6189925"/>
                  <a:pt x="0" y="6023795"/>
                </a:cubicBezTo>
                <a:lnTo>
                  <a:pt x="0" y="300805"/>
                </a:lnTo>
                <a:cubicBezTo>
                  <a:pt x="0" y="134675"/>
                  <a:pt x="134675" y="0"/>
                  <a:pt x="30080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19900" y="1378227"/>
            <a:ext cx="4689684" cy="488898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19900" y="6387737"/>
            <a:ext cx="29704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C6E1562-A5F2-4CFE-8C44-E693FC384183}"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83134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83CCC7D3-CD59-447D-B48D-5A9738AA9C56}"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098384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2941319" cy="3088635"/>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2114" y="220869"/>
            <a:ext cx="4594371" cy="616625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58174" y="6387128"/>
            <a:ext cx="1032084" cy="338328"/>
          </a:xfrm>
        </p:spPr>
        <p:txBody>
          <a:bodyPr/>
          <a:lstStyle/>
          <a:p>
            <a:fld id="{0F3725FA-19BC-48DC-B474-03C59D0E2316}"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690258"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534400" y="269080"/>
            <a:ext cx="3390900" cy="6327648"/>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276447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287F0A7-A226-42F4-AEE1-0BA8D175B319}"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2337240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D73B329-80E7-45AB-8026-619750048877}"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981039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6" y="219457"/>
            <a:ext cx="4026915" cy="1303534"/>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522992"/>
            <a:ext cx="4026916" cy="47488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99660" y="6387128"/>
            <a:ext cx="1032084" cy="338328"/>
          </a:xfrm>
        </p:spPr>
        <p:txBody>
          <a:bodyPr/>
          <a:lstStyle/>
          <a:p>
            <a:fld id="{11CED8A1-CFF9-4A26-8F67-288401DB6E28}"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231744"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914900" y="265943"/>
            <a:ext cx="7010400" cy="6325357"/>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0868654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59071" y="219456"/>
            <a:ext cx="3162300" cy="184919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4C1BE581-FB1F-EE1A-8946-9FA6FC25C11B}"/>
              </a:ext>
            </a:extLst>
          </p:cNvPr>
          <p:cNvSpPr>
            <a:spLocks noGrp="1"/>
          </p:cNvSpPr>
          <p:nvPr>
            <p:ph type="pic" sz="quarter" idx="13" hasCustomPrompt="1"/>
          </p:nvPr>
        </p:nvSpPr>
        <p:spPr>
          <a:xfrm>
            <a:off x="274320" y="266700"/>
            <a:ext cx="7924800" cy="6324600"/>
          </a:xfrm>
          <a:custGeom>
            <a:avLst/>
            <a:gdLst>
              <a:gd name="connsiteX0" fmla="*/ 293082 w 7924800"/>
              <a:gd name="connsiteY0" fmla="*/ 0 h 6324600"/>
              <a:gd name="connsiteX1" fmla="*/ 7631718 w 7924800"/>
              <a:gd name="connsiteY1" fmla="*/ 0 h 6324600"/>
              <a:gd name="connsiteX2" fmla="*/ 7924800 w 7924800"/>
              <a:gd name="connsiteY2" fmla="*/ 293082 h 6324600"/>
              <a:gd name="connsiteX3" fmla="*/ 7924800 w 7924800"/>
              <a:gd name="connsiteY3" fmla="*/ 6031518 h 6324600"/>
              <a:gd name="connsiteX4" fmla="*/ 7631718 w 7924800"/>
              <a:gd name="connsiteY4" fmla="*/ 6324600 h 6324600"/>
              <a:gd name="connsiteX5" fmla="*/ 293082 w 7924800"/>
              <a:gd name="connsiteY5" fmla="*/ 6324600 h 6324600"/>
              <a:gd name="connsiteX6" fmla="*/ 0 w 7924800"/>
              <a:gd name="connsiteY6" fmla="*/ 6031518 h 6324600"/>
              <a:gd name="connsiteX7" fmla="*/ 0 w 7924800"/>
              <a:gd name="connsiteY7" fmla="*/ 293082 h 6324600"/>
              <a:gd name="connsiteX8" fmla="*/ 293082 w 792480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4800" h="6324600">
                <a:moveTo>
                  <a:pt x="293082" y="0"/>
                </a:moveTo>
                <a:lnTo>
                  <a:pt x="7631718" y="0"/>
                </a:lnTo>
                <a:cubicBezTo>
                  <a:pt x="7793583" y="0"/>
                  <a:pt x="7924800" y="131217"/>
                  <a:pt x="7924800" y="293082"/>
                </a:cubicBezTo>
                <a:lnTo>
                  <a:pt x="7924800" y="6031518"/>
                </a:lnTo>
                <a:cubicBezTo>
                  <a:pt x="7924800" y="6193383"/>
                  <a:pt x="7793583" y="6324600"/>
                  <a:pt x="7631718" y="6324600"/>
                </a:cubicBezTo>
                <a:lnTo>
                  <a:pt x="293082" y="6324600"/>
                </a:lnTo>
                <a:cubicBezTo>
                  <a:pt x="131217" y="6324600"/>
                  <a:pt x="0" y="6193383"/>
                  <a:pt x="0" y="6031518"/>
                </a:cubicBezTo>
                <a:lnTo>
                  <a:pt x="0" y="293082"/>
                </a:lnTo>
                <a:cubicBezTo>
                  <a:pt x="0" y="131217"/>
                  <a:pt x="131217" y="0"/>
                  <a:pt x="29308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459071" y="2111514"/>
            <a:ext cx="3162300" cy="415800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59072" y="6387737"/>
            <a:ext cx="1983112"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477500" y="6390795"/>
            <a:ext cx="1032084" cy="338328"/>
          </a:xfrm>
        </p:spPr>
        <p:txBody>
          <a:bodyPr/>
          <a:lstStyle>
            <a:lvl1pPr>
              <a:defRPr>
                <a:solidFill>
                  <a:schemeClr val="tx1"/>
                </a:solidFill>
                <a:effectLst/>
              </a:defRPr>
            </a:lvl1pPr>
          </a:lstStyle>
          <a:p>
            <a:fld id="{A9F8FFF0-47C1-4310-BD96-F4433BC28F34}"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9592928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0AED1CF-E119-4D38-9336-E1639CDD777A}"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0143775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52434" y="219456"/>
            <a:ext cx="2504499" cy="2282204"/>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0245013D-3ACD-0E69-50DF-0B7C6855E765}"/>
              </a:ext>
            </a:extLst>
          </p:cNvPr>
          <p:cNvSpPr>
            <a:spLocks noGrp="1"/>
          </p:cNvSpPr>
          <p:nvPr>
            <p:ph type="pic" sz="quarter" idx="13" hasCustomPrompt="1"/>
          </p:nvPr>
        </p:nvSpPr>
        <p:spPr>
          <a:xfrm>
            <a:off x="274220" y="266700"/>
            <a:ext cx="8782316" cy="6324600"/>
          </a:xfrm>
          <a:custGeom>
            <a:avLst/>
            <a:gdLst>
              <a:gd name="connsiteX0" fmla="*/ 293967 w 8782316"/>
              <a:gd name="connsiteY0" fmla="*/ 0 h 6324600"/>
              <a:gd name="connsiteX1" fmla="*/ 8488349 w 8782316"/>
              <a:gd name="connsiteY1" fmla="*/ 0 h 6324600"/>
              <a:gd name="connsiteX2" fmla="*/ 8782316 w 8782316"/>
              <a:gd name="connsiteY2" fmla="*/ 293967 h 6324600"/>
              <a:gd name="connsiteX3" fmla="*/ 8782316 w 8782316"/>
              <a:gd name="connsiteY3" fmla="*/ 6030633 h 6324600"/>
              <a:gd name="connsiteX4" fmla="*/ 8488349 w 8782316"/>
              <a:gd name="connsiteY4" fmla="*/ 6324600 h 6324600"/>
              <a:gd name="connsiteX5" fmla="*/ 293967 w 8782316"/>
              <a:gd name="connsiteY5" fmla="*/ 6324600 h 6324600"/>
              <a:gd name="connsiteX6" fmla="*/ 0 w 8782316"/>
              <a:gd name="connsiteY6" fmla="*/ 6030633 h 6324600"/>
              <a:gd name="connsiteX7" fmla="*/ 0 w 8782316"/>
              <a:gd name="connsiteY7" fmla="*/ 293967 h 6324600"/>
              <a:gd name="connsiteX8" fmla="*/ 293967 w 8782316"/>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2316" h="6324600">
                <a:moveTo>
                  <a:pt x="293967" y="0"/>
                </a:moveTo>
                <a:lnTo>
                  <a:pt x="8488349" y="0"/>
                </a:lnTo>
                <a:cubicBezTo>
                  <a:pt x="8650702" y="0"/>
                  <a:pt x="8782316" y="131614"/>
                  <a:pt x="8782316" y="293967"/>
                </a:cubicBezTo>
                <a:lnTo>
                  <a:pt x="8782316" y="6030633"/>
                </a:lnTo>
                <a:cubicBezTo>
                  <a:pt x="8782316" y="6192986"/>
                  <a:pt x="8650702" y="6324600"/>
                  <a:pt x="8488349" y="6324600"/>
                </a:cubicBezTo>
                <a:lnTo>
                  <a:pt x="293967" y="6324600"/>
                </a:lnTo>
                <a:cubicBezTo>
                  <a:pt x="131614" y="6324600"/>
                  <a:pt x="0" y="6192986"/>
                  <a:pt x="0" y="6030633"/>
                </a:cubicBezTo>
                <a:lnTo>
                  <a:pt x="0" y="293967"/>
                </a:lnTo>
                <a:cubicBezTo>
                  <a:pt x="0" y="131614"/>
                  <a:pt x="131614" y="0"/>
                  <a:pt x="29396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9262115" y="3001992"/>
            <a:ext cx="2494818" cy="3299767"/>
          </a:xfrm>
        </p:spPr>
        <p:txBody>
          <a:bodyPr anchor="b">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259368" y="6387737"/>
            <a:ext cx="1315404"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564498" y="6390795"/>
            <a:ext cx="1007658" cy="338328"/>
          </a:xfrm>
        </p:spPr>
        <p:txBody>
          <a:bodyPr/>
          <a:lstStyle>
            <a:lvl1pPr>
              <a:defRPr>
                <a:solidFill>
                  <a:schemeClr val="tx1"/>
                </a:solidFill>
                <a:effectLst/>
              </a:defRPr>
            </a:lvl1pPr>
          </a:lstStyle>
          <a:p>
            <a:fld id="{C15FD624-4566-4431-A240-DAE032DF18AE}"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75268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878" y="5322914"/>
            <a:ext cx="4466322" cy="1064214"/>
          </a:xfrm>
        </p:spPr>
        <p:txBody>
          <a:bodyPr anchor="t">
            <a:normAutofit/>
          </a:bodyPr>
          <a:lstStyle>
            <a:lvl1pPr>
              <a:defRPr sz="3000"/>
            </a:lvl1pPr>
          </a:lstStyle>
          <a:p>
            <a:r>
              <a:rPr lang="en-US"/>
              <a:t>Click to edit Master title style</a:t>
            </a:r>
          </a:p>
        </p:txBody>
      </p:sp>
      <p:sp>
        <p:nvSpPr>
          <p:cNvPr id="4" name="Picture Placeholder 3">
            <a:extLst>
              <a:ext uri="{FF2B5EF4-FFF2-40B4-BE49-F238E27FC236}">
                <a16:creationId xmlns:a16="http://schemas.microsoft.com/office/drawing/2014/main" id="{61800625-21B7-D3E3-63A2-DDD86082593E}"/>
              </a:ext>
            </a:extLst>
          </p:cNvPr>
          <p:cNvSpPr>
            <a:spLocks noGrp="1"/>
          </p:cNvSpPr>
          <p:nvPr>
            <p:ph type="pic" sz="quarter" idx="15" hasCustomPrompt="1"/>
          </p:nvPr>
        </p:nvSpPr>
        <p:spPr>
          <a:xfrm>
            <a:off x="274220" y="265176"/>
            <a:ext cx="11651080"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14900" y="5283156"/>
            <a:ext cx="7010400" cy="1103972"/>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200"/>
            </a:lvl3pPr>
            <a:lvl4pPr marL="685800" indent="0">
              <a:buFont typeface="Arial" panose="020B0604020202020204" pitchFamily="34" charset="0"/>
              <a:buNone/>
              <a:defRPr sz="1200"/>
            </a:lvl4pPr>
            <a:lvl5pPr marL="914400" indent="0">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C2C6B9D-C229-4BCA-B938-536BECB73167}"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012396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3994637"/>
            <a:ext cx="3460316" cy="1986345"/>
          </a:xfrm>
        </p:spPr>
        <p:txBody>
          <a:bodyPr anchor="t">
            <a:normAutofit/>
          </a:bodyPr>
          <a:lstStyle>
            <a:lvl1pPr>
              <a:defRPr sz="3000"/>
            </a:lvl1pPr>
          </a:lstStyle>
          <a:p>
            <a:r>
              <a:rPr lang="en-US"/>
              <a:t>Click to edit Master title style</a:t>
            </a:r>
          </a:p>
        </p:txBody>
      </p:sp>
      <p:sp>
        <p:nvSpPr>
          <p:cNvPr id="10" name="Picture Placeholder 9">
            <a:extLst>
              <a:ext uri="{FF2B5EF4-FFF2-40B4-BE49-F238E27FC236}">
                <a16:creationId xmlns:a16="http://schemas.microsoft.com/office/drawing/2014/main" id="{9A350D79-60BC-073C-3EE9-FEF237EFFC3B}"/>
              </a:ext>
            </a:extLst>
          </p:cNvPr>
          <p:cNvSpPr>
            <a:spLocks noGrp="1"/>
          </p:cNvSpPr>
          <p:nvPr>
            <p:ph type="pic" sz="quarter" idx="13" hasCustomPrompt="1"/>
          </p:nvPr>
        </p:nvSpPr>
        <p:spPr>
          <a:xfrm>
            <a:off x="274220" y="266700"/>
            <a:ext cx="11651080" cy="3511571"/>
          </a:xfrm>
          <a:custGeom>
            <a:avLst/>
            <a:gdLst>
              <a:gd name="connsiteX0" fmla="*/ 293181 w 11651080"/>
              <a:gd name="connsiteY0" fmla="*/ 0 h 3511571"/>
              <a:gd name="connsiteX1" fmla="*/ 11357899 w 11651080"/>
              <a:gd name="connsiteY1" fmla="*/ 0 h 3511571"/>
              <a:gd name="connsiteX2" fmla="*/ 11651080 w 11651080"/>
              <a:gd name="connsiteY2" fmla="*/ 293181 h 3511571"/>
              <a:gd name="connsiteX3" fmla="*/ 11651080 w 11651080"/>
              <a:gd name="connsiteY3" fmla="*/ 3218390 h 3511571"/>
              <a:gd name="connsiteX4" fmla="*/ 11521819 w 11651080"/>
              <a:gd name="connsiteY4" fmla="*/ 3461500 h 3511571"/>
              <a:gd name="connsiteX5" fmla="*/ 11477449 w 11651080"/>
              <a:gd name="connsiteY5" fmla="*/ 3485583 h 3511571"/>
              <a:gd name="connsiteX6" fmla="*/ 11417209 w 11651080"/>
              <a:gd name="connsiteY6" fmla="*/ 3504280 h 3511571"/>
              <a:gd name="connsiteX7" fmla="*/ 11344868 w 11651080"/>
              <a:gd name="connsiteY7" fmla="*/ 3511571 h 3511571"/>
              <a:gd name="connsiteX8" fmla="*/ 310043 w 11651080"/>
              <a:gd name="connsiteY8" fmla="*/ 3511571 h 3511571"/>
              <a:gd name="connsiteX9" fmla="*/ 170323 w 11651080"/>
              <a:gd name="connsiteY9" fmla="*/ 3483368 h 3511571"/>
              <a:gd name="connsiteX10" fmla="*/ 127787 w 11651080"/>
              <a:gd name="connsiteY10" fmla="*/ 3460284 h 3511571"/>
              <a:gd name="connsiteX11" fmla="*/ 85871 w 11651080"/>
              <a:gd name="connsiteY11" fmla="*/ 3425700 h 3511571"/>
              <a:gd name="connsiteX12" fmla="*/ 0 w 11651080"/>
              <a:gd name="connsiteY12" fmla="*/ 3218390 h 3511571"/>
              <a:gd name="connsiteX13" fmla="*/ 0 w 11651080"/>
              <a:gd name="connsiteY13" fmla="*/ 293181 h 3511571"/>
              <a:gd name="connsiteX14" fmla="*/ 293181 w 11651080"/>
              <a:gd name="connsiteY14" fmla="*/ 0 h 351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51080" h="3511571">
                <a:moveTo>
                  <a:pt x="293181" y="0"/>
                </a:moveTo>
                <a:lnTo>
                  <a:pt x="11357899" y="0"/>
                </a:lnTo>
                <a:cubicBezTo>
                  <a:pt x="11519818" y="0"/>
                  <a:pt x="11651080" y="131262"/>
                  <a:pt x="11651080" y="293181"/>
                </a:cubicBezTo>
                <a:lnTo>
                  <a:pt x="11651080" y="3218390"/>
                </a:lnTo>
                <a:cubicBezTo>
                  <a:pt x="11651080" y="3319589"/>
                  <a:pt x="11599806" y="3408813"/>
                  <a:pt x="11521819" y="3461500"/>
                </a:cubicBezTo>
                <a:lnTo>
                  <a:pt x="11477449" y="3485583"/>
                </a:lnTo>
                <a:lnTo>
                  <a:pt x="11417209" y="3504280"/>
                </a:lnTo>
                <a:cubicBezTo>
                  <a:pt x="11393842" y="3509060"/>
                  <a:pt x="11369648" y="3511571"/>
                  <a:pt x="11344868" y="3511571"/>
                </a:cubicBezTo>
                <a:lnTo>
                  <a:pt x="310043" y="3511571"/>
                </a:lnTo>
                <a:cubicBezTo>
                  <a:pt x="260482" y="3511571"/>
                  <a:pt x="213267" y="3501529"/>
                  <a:pt x="170323" y="3483368"/>
                </a:cubicBezTo>
                <a:lnTo>
                  <a:pt x="127787" y="3460284"/>
                </a:lnTo>
                <a:lnTo>
                  <a:pt x="85871" y="3425700"/>
                </a:lnTo>
                <a:cubicBezTo>
                  <a:pt x="32816" y="3372645"/>
                  <a:pt x="0" y="3299350"/>
                  <a:pt x="0" y="3218390"/>
                </a:cubicBezTo>
                <a:lnTo>
                  <a:pt x="0" y="293181"/>
                </a:lnTo>
                <a:cubicBezTo>
                  <a:pt x="0" y="131262"/>
                  <a:pt x="131262" y="0"/>
                  <a:pt x="29318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3977466"/>
            <a:ext cx="7962900" cy="22860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56E5E6A-45AF-41B7-A460-699EC3A54766}"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95721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CFF3730A-B15C-4827-B857-A057AE8E6A01}"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939369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67689" y="1277917"/>
            <a:ext cx="4244590" cy="1054449"/>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6A6D8C26-0B2C-F81E-0E9B-25818527E0CD}"/>
              </a:ext>
            </a:extLst>
          </p:cNvPr>
          <p:cNvSpPr>
            <a:spLocks noGrp="1"/>
          </p:cNvSpPr>
          <p:nvPr>
            <p:ph type="pic" sz="quarter" idx="13" hasCustomPrompt="1"/>
          </p:nvPr>
        </p:nvSpPr>
        <p:spPr>
          <a:xfrm>
            <a:off x="1371601" y="2391930"/>
            <a:ext cx="4140679" cy="3094471"/>
          </a:xfrm>
          <a:custGeom>
            <a:avLst/>
            <a:gdLst>
              <a:gd name="connsiteX0" fmla="*/ 287879 w 4140679"/>
              <a:gd name="connsiteY0" fmla="*/ 0 h 3094471"/>
              <a:gd name="connsiteX1" fmla="*/ 3852800 w 4140679"/>
              <a:gd name="connsiteY1" fmla="*/ 0 h 3094471"/>
              <a:gd name="connsiteX2" fmla="*/ 4140679 w 4140679"/>
              <a:gd name="connsiteY2" fmla="*/ 287879 h 3094471"/>
              <a:gd name="connsiteX3" fmla="*/ 4140679 w 4140679"/>
              <a:gd name="connsiteY3" fmla="*/ 2806592 h 3094471"/>
              <a:gd name="connsiteX4" fmla="*/ 3852800 w 4140679"/>
              <a:gd name="connsiteY4" fmla="*/ 3094471 h 3094471"/>
              <a:gd name="connsiteX5" fmla="*/ 287879 w 4140679"/>
              <a:gd name="connsiteY5" fmla="*/ 3094471 h 3094471"/>
              <a:gd name="connsiteX6" fmla="*/ 0 w 4140679"/>
              <a:gd name="connsiteY6" fmla="*/ 2806592 h 3094471"/>
              <a:gd name="connsiteX7" fmla="*/ 0 w 4140679"/>
              <a:gd name="connsiteY7" fmla="*/ 287879 h 3094471"/>
              <a:gd name="connsiteX8" fmla="*/ 287879 w 4140679"/>
              <a:gd name="connsiteY8" fmla="*/ 0 h 309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0679" h="3094471">
                <a:moveTo>
                  <a:pt x="287879" y="0"/>
                </a:moveTo>
                <a:lnTo>
                  <a:pt x="3852800" y="0"/>
                </a:lnTo>
                <a:cubicBezTo>
                  <a:pt x="4011791" y="0"/>
                  <a:pt x="4140679" y="128888"/>
                  <a:pt x="4140679" y="287879"/>
                </a:cubicBezTo>
                <a:lnTo>
                  <a:pt x="4140679" y="2806592"/>
                </a:lnTo>
                <a:cubicBezTo>
                  <a:pt x="4140679" y="2965583"/>
                  <a:pt x="4011791" y="3094471"/>
                  <a:pt x="3852800" y="3094471"/>
                </a:cubicBezTo>
                <a:lnTo>
                  <a:pt x="287879" y="3094471"/>
                </a:lnTo>
                <a:cubicBezTo>
                  <a:pt x="128888" y="3094471"/>
                  <a:pt x="0" y="2965583"/>
                  <a:pt x="0" y="2806592"/>
                </a:cubicBezTo>
                <a:lnTo>
                  <a:pt x="0" y="287879"/>
                </a:lnTo>
                <a:cubicBezTo>
                  <a:pt x="0" y="128888"/>
                  <a:pt x="128888" y="0"/>
                  <a:pt x="2878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67400" y="1277917"/>
            <a:ext cx="4953000" cy="4208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D25C14F-16F0-4906-A8CC-F2339757EB69}"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35143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81E4EE2-4A02-4034-9F47-0AB0C672FB48}"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728631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5158596"/>
            <a:ext cx="4207160" cy="121632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43EBFFFF-5D16-BE62-1AAA-3F8F77B6C10A}"/>
              </a:ext>
            </a:extLst>
          </p:cNvPr>
          <p:cNvSpPr>
            <a:spLocks noGrp="1"/>
          </p:cNvSpPr>
          <p:nvPr>
            <p:ph type="pic" sz="quarter" idx="13" hasCustomPrompt="1"/>
          </p:nvPr>
        </p:nvSpPr>
        <p:spPr>
          <a:xfrm>
            <a:off x="271305" y="265176"/>
            <a:ext cx="4118735" cy="4577087"/>
          </a:xfrm>
          <a:custGeom>
            <a:avLst/>
            <a:gdLst>
              <a:gd name="connsiteX0" fmla="*/ 302192 w 4118735"/>
              <a:gd name="connsiteY0" fmla="*/ 0 h 4577087"/>
              <a:gd name="connsiteX1" fmla="*/ 3816543 w 4118735"/>
              <a:gd name="connsiteY1" fmla="*/ 0 h 4577087"/>
              <a:gd name="connsiteX2" fmla="*/ 4118735 w 4118735"/>
              <a:gd name="connsiteY2" fmla="*/ 302192 h 4577087"/>
              <a:gd name="connsiteX3" fmla="*/ 4118735 w 4118735"/>
              <a:gd name="connsiteY3" fmla="*/ 4274895 h 4577087"/>
              <a:gd name="connsiteX4" fmla="*/ 3816543 w 4118735"/>
              <a:gd name="connsiteY4" fmla="*/ 4577087 h 4577087"/>
              <a:gd name="connsiteX5" fmla="*/ 302192 w 4118735"/>
              <a:gd name="connsiteY5" fmla="*/ 4577087 h 4577087"/>
              <a:gd name="connsiteX6" fmla="*/ 0 w 4118735"/>
              <a:gd name="connsiteY6" fmla="*/ 4274895 h 4577087"/>
              <a:gd name="connsiteX7" fmla="*/ 0 w 4118735"/>
              <a:gd name="connsiteY7" fmla="*/ 302192 h 4577087"/>
              <a:gd name="connsiteX8" fmla="*/ 302192 w 4118735"/>
              <a:gd name="connsiteY8" fmla="*/ 0 h 457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8735" h="4577087">
                <a:moveTo>
                  <a:pt x="302192" y="0"/>
                </a:moveTo>
                <a:lnTo>
                  <a:pt x="3816543" y="0"/>
                </a:lnTo>
                <a:cubicBezTo>
                  <a:pt x="3983439" y="0"/>
                  <a:pt x="4118735" y="135296"/>
                  <a:pt x="4118735" y="302192"/>
                </a:cubicBezTo>
                <a:lnTo>
                  <a:pt x="4118735" y="4274895"/>
                </a:lnTo>
                <a:cubicBezTo>
                  <a:pt x="4118735" y="4441791"/>
                  <a:pt x="3983439" y="4577087"/>
                  <a:pt x="3816543" y="4577087"/>
                </a:cubicBezTo>
                <a:lnTo>
                  <a:pt x="302192" y="4577087"/>
                </a:lnTo>
                <a:cubicBezTo>
                  <a:pt x="135296" y="4577087"/>
                  <a:pt x="0" y="4441791"/>
                  <a:pt x="0" y="4274895"/>
                </a:cubicBezTo>
                <a:lnTo>
                  <a:pt x="0" y="302192"/>
                </a:lnTo>
                <a:cubicBezTo>
                  <a:pt x="0" y="135296"/>
                  <a:pt x="135296" y="0"/>
                  <a:pt x="30219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4900" y="296685"/>
            <a:ext cx="6720870" cy="6075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7097D3C-F8B3-4AB4-8B0F-C9F5DAAFCF55}"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71167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64528B22-6858-42EC-9999-5527F18E9C4E}" type="datetime1">
              <a:rPr lang="en-US" smtClean="0"/>
              <a:t>11/28/2025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344109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620201" y="606392"/>
            <a:ext cx="10946701" cy="4619890"/>
          </a:xfrm>
          <a:prstGeom prst="roundRect">
            <a:avLst>
              <a:gd name="adj" fmla="val 6476"/>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26282"/>
            <a:ext cx="9299448" cy="1025326"/>
          </a:xfrm>
        </p:spPr>
        <p:txBody>
          <a:bodyPr anchor="ctr">
            <a:normAutofit/>
          </a:bodyPr>
          <a:lstStyle>
            <a:lvl1pPr algn="ctr">
              <a:lnSpc>
                <a:spcPct val="90000"/>
              </a:lnSpc>
              <a:defRPr sz="2400" spc="-50"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2"/>
            <a:ext cx="9299448" cy="3700734"/>
          </a:xfrm>
        </p:spPr>
        <p:txBody>
          <a:bodyPr anchor="ctr">
            <a:normAutofit/>
          </a:bodyPr>
          <a:lstStyle>
            <a:lvl1pPr marL="0" indent="0" algn="ctr">
              <a:lnSpc>
                <a:spcPct val="80000"/>
              </a:lnSpc>
              <a:buNone/>
              <a:defRPr sz="26000" spc="-100" baseline="0">
                <a:solidFill>
                  <a:schemeClr val="tx2"/>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40D090C-ECF2-4D6C-A43E-6D235ACB7357}" type="datetime1">
              <a:rPr lang="en-US" smtClean="0"/>
              <a:t>11/28/2025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38315228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526C722-3701-B2F2-EF11-4B756E05446F}"/>
              </a:ext>
              <a:ext uri="{C183D7F6-B498-43B3-948B-1728B52AA6E4}">
                <adec:decorative xmlns:adec="http://schemas.microsoft.com/office/drawing/2017/decorative" val="1"/>
              </a:ext>
            </a:extLst>
          </p:cNvPr>
          <p:cNvSpPr/>
          <p:nvPr/>
        </p:nvSpPr>
        <p:spPr>
          <a:xfrm>
            <a:off x="660344" y="4990975"/>
            <a:ext cx="10871313" cy="1239913"/>
          </a:xfrm>
          <a:prstGeom prst="roundRect">
            <a:avLst>
              <a:gd name="adj" fmla="val 2206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40433" y="5233065"/>
            <a:ext cx="10111135" cy="777037"/>
          </a:xfrm>
        </p:spPr>
        <p:txBody>
          <a:bodyPr anchor="ctr">
            <a:normAutofit/>
          </a:bodyPr>
          <a:lstStyle>
            <a:lvl1pPr algn="ctr">
              <a:lnSpc>
                <a:spcPct val="90000"/>
              </a:lnSpc>
              <a:defRPr sz="2000" spc="0" baseline="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1"/>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49B39A27-1F5E-4B01-B440-54C1B39E4351}" type="datetime1">
              <a:rPr lang="en-US" smtClean="0"/>
              <a:t>11/28/2025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160064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E8549AC-D930-32F5-F4D6-1BE34C7228FE}"/>
              </a:ext>
              <a:ext uri="{C183D7F6-B498-43B3-948B-1728B52AA6E4}">
                <adec:decorative xmlns:adec="http://schemas.microsoft.com/office/drawing/2017/decorative" val="1"/>
              </a:ext>
            </a:extLst>
          </p:cNvPr>
          <p:cNvSpPr/>
          <p:nvPr/>
        </p:nvSpPr>
        <p:spPr>
          <a:xfrm>
            <a:off x="1590501" y="4989874"/>
            <a:ext cx="9010999" cy="1239913"/>
          </a:xfrm>
          <a:prstGeom prst="roundRect">
            <a:avLst>
              <a:gd name="adj" fmla="val 24326"/>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2"/>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982064" y="5147215"/>
            <a:ext cx="8227873" cy="912763"/>
          </a:xfrm>
        </p:spPr>
        <p:txBody>
          <a:bodyPr anchor="ctr">
            <a:normAutofit/>
          </a:bodyPr>
          <a:lstStyle>
            <a:lvl1pPr algn="ctr">
              <a:lnSpc>
                <a:spcPct val="100000"/>
              </a:lnSpc>
              <a:defRPr sz="2300" spc="-50"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2"/>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F1599A9C-CECA-4623-B14F-1AC54FE4327D}" type="datetime1">
              <a:rPr lang="en-US" smtClean="0"/>
              <a:t>11/28/2025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1579708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224884" y="5144654"/>
            <a:ext cx="7280816" cy="1242473"/>
          </a:xfrm>
        </p:spPr>
        <p:txBody>
          <a:bodyPr vert="horz" lIns="91440" tIns="45720" rIns="91440" bIns="45720" rtlCol="0" anchor="t">
            <a:normAutofit/>
          </a:bodyPr>
          <a:lstStyle>
            <a:lvl1pPr>
              <a:lnSpc>
                <a:spcPct val="100000"/>
              </a:lnSpc>
              <a:defRPr lang="en-US" sz="2800" spc="-50" baseline="0" dirty="0">
                <a:solidFill>
                  <a:schemeClr val="tx2"/>
                </a:solidFill>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84720" y="266700"/>
            <a:ext cx="11740580" cy="5349003"/>
          </a:xfrm>
        </p:spPr>
        <p:txBody>
          <a:bodyPr vert="horz" lIns="91440" tIns="45720" rIns="91440" bIns="45720" rtlCol="0" anchor="b">
            <a:noAutofit/>
          </a:bodyPr>
          <a:lstStyle>
            <a:lvl1pPr marL="0" indent="0">
              <a:lnSpc>
                <a:spcPct val="90000"/>
              </a:lnSpc>
              <a:spcBef>
                <a:spcPts val="0"/>
              </a:spcBef>
              <a:buNone/>
              <a:defRPr lang="en-US" sz="33000" spc="-100" baseline="0" dirty="0">
                <a:solidFill>
                  <a:schemeClr val="accent1">
                    <a:lumMod val="60000"/>
                    <a:lumOff val="40000"/>
                    <a:alpha val="50000"/>
                  </a:schemeClr>
                </a:solidFill>
              </a:defRPr>
            </a:lvl1pPr>
          </a:lstStyle>
          <a:p>
            <a:pPr lvl="0"/>
            <a:r>
              <a:rPr lang="en-US"/>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1F5DE239-6927-41A3-8029-05AD72D53594}" type="datetime1">
              <a:rPr lang="en-US" smtClean="0"/>
              <a:t>11/28/2025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8279621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0668A04-E064-44DB-8E76-59A1B87AE141}" type="datetime1">
              <a:rPr lang="en-US" smtClean="0"/>
              <a:t>11/28/2025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043005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1638300"/>
            <a:ext cx="10652760" cy="4748828"/>
          </a:xfrm>
        </p:spPr>
        <p:txBody>
          <a:bodyPr anchor="b">
            <a:noAutofit/>
          </a:bodyPr>
          <a:lstStyle>
            <a:lvl1pPr marL="0" indent="0">
              <a:lnSpc>
                <a:spcPct val="85000"/>
              </a:lnSpc>
              <a:buNone/>
              <a:defRPr sz="7600" b="0" spc="-50" baseline="0"/>
            </a:lvl1pPr>
            <a:lvl2pPr marL="228600" indent="0">
              <a:lnSpc>
                <a:spcPct val="85000"/>
              </a:lnSpc>
              <a:buNone/>
              <a:defRPr sz="6000" b="0" spc="-50" baseline="0"/>
            </a:lvl2pPr>
            <a:lvl3pPr marL="457200" indent="0">
              <a:lnSpc>
                <a:spcPct val="85000"/>
              </a:lnSpc>
              <a:buNone/>
              <a:defRPr sz="5400" b="0" spc="-50" baseline="0"/>
            </a:lvl3pPr>
            <a:lvl4pPr marL="685800" indent="0">
              <a:lnSpc>
                <a:spcPct val="85000"/>
              </a:lnSpc>
              <a:buNone/>
              <a:defRPr sz="4800" b="0" spc="-50" baseline="0"/>
            </a:lvl4pPr>
            <a:lvl5pPr marL="914400" indent="0">
              <a:lnSpc>
                <a:spcPct val="85000"/>
              </a:lnSpc>
              <a:buNone/>
              <a:defRPr sz="4400" b="0" spc="-50" baseline="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156EEB3-73A5-4AA1-A0ED-93663FAD3CFF}" type="datetime1">
              <a:rPr lang="en-US" smtClean="0"/>
              <a:t>11/28/2025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883233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3" y="214840"/>
            <a:ext cx="9966323" cy="4992427"/>
          </a:xfrm>
        </p:spPr>
        <p:txBody>
          <a:bodyPr anchor="t">
            <a:noAutofit/>
          </a:bodyPr>
          <a:lstStyle>
            <a:lvl1pPr marL="0" indent="0">
              <a:lnSpc>
                <a:spcPct val="85000"/>
              </a:lnSpc>
              <a:buNone/>
              <a:defRPr sz="7200" b="0" spc="-50" baseline="0">
                <a:solidFill>
                  <a:schemeClr val="accent1"/>
                </a:solidFill>
              </a:defRPr>
            </a:lvl1pPr>
            <a:lvl2pPr marL="228600" indent="0">
              <a:lnSpc>
                <a:spcPct val="85000"/>
              </a:lnSpc>
              <a:buNone/>
              <a:defRPr sz="7200" b="0" spc="-50" baseline="0">
                <a:solidFill>
                  <a:schemeClr val="accent1"/>
                </a:solidFill>
              </a:defRPr>
            </a:lvl2pPr>
            <a:lvl3pPr marL="457200" indent="0">
              <a:lnSpc>
                <a:spcPct val="85000"/>
              </a:lnSpc>
              <a:buNone/>
              <a:defRPr sz="7200" b="0" spc="-50" baseline="0">
                <a:solidFill>
                  <a:schemeClr val="accent1"/>
                </a:solidFill>
              </a:defRPr>
            </a:lvl3pPr>
            <a:lvl4pPr marL="685800" indent="0">
              <a:lnSpc>
                <a:spcPct val="85000"/>
              </a:lnSpc>
              <a:buNone/>
              <a:defRPr sz="7200" b="0" spc="-50" baseline="0">
                <a:solidFill>
                  <a:schemeClr val="accent1"/>
                </a:solidFill>
              </a:defRPr>
            </a:lvl4pPr>
            <a:lvl5pPr marL="914400" indent="0">
              <a:lnSpc>
                <a:spcPct val="85000"/>
              </a:lnSpc>
              <a:buNone/>
              <a:defRPr sz="7200" b="0" spc="-50"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4264CA8-B774-4FFE-B07B-164FC2B129B2}" type="datetime1">
              <a:rPr lang="en-US" smtClean="0"/>
              <a:t>11/28/2025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37368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214840"/>
            <a:ext cx="10062576" cy="5040554"/>
          </a:xfrm>
        </p:spPr>
        <p:txBody>
          <a:bodyPr anchor="t">
            <a:noAutofit/>
          </a:bodyPr>
          <a:lstStyle>
            <a:lvl1pPr marL="0" indent="0">
              <a:lnSpc>
                <a:spcPct val="85000"/>
              </a:lnSpc>
              <a:buNone/>
              <a:defRPr sz="7600" b="0" spc="-50" baseline="0">
                <a:solidFill>
                  <a:schemeClr val="accent1">
                    <a:lumMod val="60000"/>
                    <a:lumOff val="40000"/>
                    <a:alpha val="80000"/>
                  </a:schemeClr>
                </a:solidFill>
              </a:defRPr>
            </a:lvl1pPr>
            <a:lvl2pPr marL="228600" indent="0">
              <a:lnSpc>
                <a:spcPct val="85000"/>
              </a:lnSpc>
              <a:buNone/>
              <a:defRPr sz="7600" b="0" spc="-50" baseline="0">
                <a:solidFill>
                  <a:schemeClr val="accent1">
                    <a:lumMod val="60000"/>
                    <a:lumOff val="40000"/>
                    <a:alpha val="80000"/>
                  </a:schemeClr>
                </a:solidFill>
              </a:defRPr>
            </a:lvl2pPr>
            <a:lvl3pPr marL="457200" indent="0">
              <a:lnSpc>
                <a:spcPct val="85000"/>
              </a:lnSpc>
              <a:buNone/>
              <a:defRPr sz="7600" b="0" spc="-50" baseline="0">
                <a:solidFill>
                  <a:schemeClr val="accent1">
                    <a:lumMod val="60000"/>
                    <a:lumOff val="40000"/>
                    <a:alpha val="80000"/>
                  </a:schemeClr>
                </a:solidFill>
              </a:defRPr>
            </a:lvl3pPr>
            <a:lvl4pPr marL="685800" indent="0">
              <a:lnSpc>
                <a:spcPct val="85000"/>
              </a:lnSpc>
              <a:buNone/>
              <a:defRPr sz="7600" b="0" spc="-50" baseline="0">
                <a:solidFill>
                  <a:schemeClr val="accent1">
                    <a:lumMod val="60000"/>
                    <a:lumOff val="40000"/>
                    <a:alpha val="80000"/>
                  </a:schemeClr>
                </a:solidFill>
              </a:defRPr>
            </a:lvl4pPr>
            <a:lvl5pPr marL="914400" indent="0">
              <a:lnSpc>
                <a:spcPct val="85000"/>
              </a:lnSpc>
              <a:buNone/>
              <a:defRPr sz="7600" b="0" spc="-50" baseline="0">
                <a:solidFill>
                  <a:schemeClr val="accent1">
                    <a:lumMod val="60000"/>
                    <a:lumOff val="40000"/>
                    <a:alpha val="80000"/>
                  </a:schemeClr>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78704" y="6387128"/>
            <a:ext cx="2703777" cy="338328"/>
          </a:xfrm>
          <a:prstGeom prst="rect">
            <a:avLst/>
          </a:prstGeom>
        </p:spPr>
        <p:txBody>
          <a:bodyPr/>
          <a:lstStyle>
            <a:lvl1pPr>
              <a:defRPr>
                <a:solidFill>
                  <a:schemeClr val="accent1">
                    <a:lumMod val="60000"/>
                    <a:lumOff val="40000"/>
                  </a:schemeClr>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lumMod val="60000"/>
                    <a:lumOff val="40000"/>
                  </a:schemeClr>
                </a:solidFill>
              </a:defRPr>
            </a:lvl1pPr>
          </a:lstStyle>
          <a:p>
            <a:fld id="{21282A3B-194C-47F5-B78C-3244A8C83B24}" type="datetime1">
              <a:rPr lang="en-US" smtClean="0"/>
              <a:t>11/28/2025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lumMod val="60000"/>
                    <a:lumOff val="40000"/>
                  </a:schemeClr>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355124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Rectangle: Rounded Corners 7">
            <a:extLst>
              <a:ext uri="{FF2B5EF4-FFF2-40B4-BE49-F238E27FC236}">
                <a16:creationId xmlns:a16="http://schemas.microsoft.com/office/drawing/2014/main" id="{E707BF49-7217-30B5-27A8-C28DF70EA021}"/>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134062" y="1048623"/>
            <a:ext cx="6014907" cy="4932728"/>
          </a:xfrm>
        </p:spPr>
        <p:txBody>
          <a:bodyPr anchor="b">
            <a:noAutofit/>
          </a:bodyPr>
          <a:lstStyle>
            <a:lvl1pPr marL="0" indent="0">
              <a:lnSpc>
                <a:spcPct val="85000"/>
              </a:lnSpc>
              <a:buNone/>
              <a:defRPr sz="5400" b="0" spc="-50" baseline="0">
                <a:solidFill>
                  <a:schemeClr val="tx2"/>
                </a:solidFill>
              </a:defRPr>
            </a:lvl1pPr>
            <a:lvl2pPr marL="228600" indent="0">
              <a:lnSpc>
                <a:spcPct val="85000"/>
              </a:lnSpc>
              <a:buNone/>
              <a:defRPr sz="4400" b="0" spc="-50" baseline="0">
                <a:solidFill>
                  <a:schemeClr val="tx2"/>
                </a:solidFill>
              </a:defRPr>
            </a:lvl2pPr>
            <a:lvl3pPr marL="457200" indent="0">
              <a:lnSpc>
                <a:spcPct val="85000"/>
              </a:lnSpc>
              <a:buNone/>
              <a:defRPr sz="3600" b="0" spc="-50" baseline="0">
                <a:solidFill>
                  <a:schemeClr val="tx2"/>
                </a:solidFill>
              </a:defRPr>
            </a:lvl3pPr>
            <a:lvl4pPr marL="685800" indent="0">
              <a:lnSpc>
                <a:spcPct val="85000"/>
              </a:lnSpc>
              <a:buNone/>
              <a:defRPr sz="3200" b="0" spc="-50" baseline="0">
                <a:solidFill>
                  <a:schemeClr val="tx2"/>
                </a:solidFill>
              </a:defRPr>
            </a:lvl4pPr>
            <a:lvl5pPr marL="914400" indent="0">
              <a:lnSpc>
                <a:spcPct val="85000"/>
              </a:lnSpc>
              <a:buNone/>
              <a:defRPr sz="2800" b="0" spc="-50" baseline="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50370B35-D38E-453B-B642-A6131E90FAC1}" type="datetime1">
              <a:rPr lang="en-US" smtClean="0"/>
              <a:t>11/28/2025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7082767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DD34B1ED-2DF7-490E-A8BB-13F340331E60}" type="datetime1">
              <a:rPr lang="en-US" smtClean="0"/>
              <a:t>11/28/2025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659798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FD12FA-BFA3-C887-EBC1-ED898186CB26}"/>
              </a:ext>
              <a:ext uri="{C183D7F6-B498-43B3-948B-1728B52AA6E4}">
                <adec:decorative xmlns:adec="http://schemas.microsoft.com/office/drawing/2017/decorative" val="1"/>
              </a:ext>
            </a:extLst>
          </p:cNvPr>
          <p:cNvSpPr/>
          <p:nvPr/>
        </p:nvSpPr>
        <p:spPr>
          <a:xfrm>
            <a:off x="620201" y="620202"/>
            <a:ext cx="10946701" cy="5617596"/>
          </a:xfrm>
          <a:prstGeom prst="roundRect">
            <a:avLst>
              <a:gd name="adj" fmla="val 550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19571" y="4874218"/>
            <a:ext cx="8753896" cy="666427"/>
          </a:xfrm>
        </p:spPr>
        <p:txBody>
          <a:bodyPr anchor="ctr">
            <a:normAutofit/>
          </a:bodyPr>
          <a:lstStyle>
            <a:lvl1pPr algn="r">
              <a:lnSpc>
                <a:spcPct val="90000"/>
              </a:lnSpc>
              <a:defRPr sz="1600" b="0" cap="all" spc="100" baseline="0">
                <a:solidFill>
                  <a:schemeClr val="accent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19571" y="1410343"/>
            <a:ext cx="8753895" cy="3301141"/>
          </a:xfrm>
        </p:spPr>
        <p:txBody>
          <a:bodyPr anchor="t">
            <a:normAutofit/>
          </a:bodyPr>
          <a:lstStyle>
            <a:lvl1pPr marL="164592" indent="-164592">
              <a:lnSpc>
                <a:spcPct val="90000"/>
              </a:lnSpc>
              <a:spcBef>
                <a:spcPts val="0"/>
              </a:spcBef>
              <a:buFont typeface="Arial" panose="020B0604020202020204" pitchFamily="34" charset="0"/>
              <a:buNone/>
              <a:defRPr sz="5000" spc="-50" baseline="0"/>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5F3EB9A7-E132-484F-833B-6A0587DC0654}" type="datetime1">
              <a:rPr lang="en-US" smtClean="0"/>
              <a:t>11/28/2025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04065477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A62FBA2-0B46-6A28-875D-1D493CFAC7EE}"/>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727126" y="5053386"/>
            <a:ext cx="5337341" cy="829328"/>
          </a:xfrm>
        </p:spPr>
        <p:txBody>
          <a:bodyPr anchor="ctr">
            <a:normAutofit/>
          </a:bodyPr>
          <a:lstStyle>
            <a:lvl1pPr algn="r">
              <a:lnSpc>
                <a:spcPct val="90000"/>
              </a:lnSpc>
              <a:defRPr sz="1600" b="0" cap="all" spc="100" baseline="0">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5374790" y="1078029"/>
            <a:ext cx="5337340" cy="3603028"/>
          </a:xfrm>
        </p:spPr>
        <p:txBody>
          <a:bodyPr anchor="t">
            <a:normAutofit/>
          </a:bodyPr>
          <a:lstStyle>
            <a:lvl1pPr marL="164592" indent="-164592">
              <a:lnSpc>
                <a:spcPct val="95000"/>
              </a:lnSpc>
              <a:spcBef>
                <a:spcPts val="0"/>
              </a:spcBef>
              <a:buFont typeface="Arial" panose="020B0604020202020204" pitchFamily="34" charset="0"/>
              <a:buNone/>
              <a:defRPr sz="4300" spc="-50" baseline="0"/>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54A53DBE-1435-4397-AED1-EFDFF43DE5BA}" type="datetime1">
              <a:rPr lang="en-US" smtClean="0"/>
              <a:t>11/28/2025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4766755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09F9171-FD47-8BB5-3DF9-885F03500FB9}"/>
              </a:ext>
              <a:ext uri="{C183D7F6-B498-43B3-948B-1728B52AA6E4}">
                <adec:decorative xmlns:adec="http://schemas.microsoft.com/office/drawing/2017/decorative" val="1"/>
              </a:ext>
            </a:extLst>
          </p:cNvPr>
          <p:cNvSpPr/>
          <p:nvPr/>
        </p:nvSpPr>
        <p:spPr>
          <a:xfrm>
            <a:off x="1880801" y="1175284"/>
            <a:ext cx="8430399" cy="4507431"/>
          </a:xfrm>
          <a:prstGeom prst="roundRect">
            <a:avLst>
              <a:gd name="adj" fmla="val 10241"/>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727007"/>
            <a:ext cx="7179129" cy="693019"/>
          </a:xfrm>
        </p:spPr>
        <p:txBody>
          <a:bodyPr anchor="t">
            <a:normAutofit/>
          </a:bodyPr>
          <a:lstStyle>
            <a:lvl1pPr algn="ctr">
              <a:lnSpc>
                <a:spcPct val="120000"/>
              </a:lnSpc>
              <a:defRPr sz="1400" b="0" cap="all" spc="100" baseline="0">
                <a:solidFill>
                  <a:srgbClr val="F0EDE6"/>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6" y="1638300"/>
            <a:ext cx="7179129" cy="2972201"/>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rgbClr val="F0EDE6"/>
                </a:solidFill>
              </a:defRPr>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6BA36299-4159-40FB-A483-3D5FED462A08}" type="datetime1">
              <a:rPr lang="en-US" smtClean="0"/>
              <a:t>11/28/2025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893288501"/>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1"/>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F509A19-2BCA-5719-B875-5ED135FBF473}"/>
              </a:ext>
              <a:ext uri="{C183D7F6-B498-43B3-948B-1728B52AA6E4}">
                <adec:decorative xmlns:adec="http://schemas.microsoft.com/office/drawing/2017/decorative" val="1"/>
              </a:ext>
            </a:extLst>
          </p:cNvPr>
          <p:cNvSpPr/>
          <p:nvPr/>
        </p:nvSpPr>
        <p:spPr>
          <a:xfrm>
            <a:off x="1371600" y="1088757"/>
            <a:ext cx="9484963" cy="4680487"/>
          </a:xfrm>
          <a:prstGeom prst="roundRect">
            <a:avLst>
              <a:gd name="adj" fmla="val 6755"/>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046022" y="4652721"/>
            <a:ext cx="8105614" cy="666427"/>
          </a:xfrm>
        </p:spPr>
        <p:txBody>
          <a:bodyPr anchor="ctr">
            <a:normAutofit/>
          </a:bodyPr>
          <a:lstStyle>
            <a:lvl1pPr algn="r">
              <a:lnSpc>
                <a:spcPct val="90000"/>
              </a:lnSpc>
              <a:defRPr sz="1600" b="0" cap="all" spc="100" baseline="0">
                <a:solidFill>
                  <a:schemeClr val="tx2"/>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036398" y="1638300"/>
            <a:ext cx="8105614" cy="2898186"/>
          </a:xfrm>
        </p:spPr>
        <p:txBody>
          <a:bodyPr anchor="t">
            <a:normAutofit/>
          </a:bodyPr>
          <a:lstStyle>
            <a:lvl1pPr marL="164592" indent="-164592">
              <a:lnSpc>
                <a:spcPct val="90000"/>
              </a:lnSpc>
              <a:spcBef>
                <a:spcPts val="0"/>
              </a:spcBef>
              <a:buFont typeface="Arial" panose="020B0604020202020204" pitchFamily="34" charset="0"/>
              <a:buNone/>
              <a:defRPr sz="5000" spc="-50" baseline="0">
                <a:solidFill>
                  <a:schemeClr val="tx2"/>
                </a:solidFill>
              </a:defRPr>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178704" y="6387128"/>
            <a:ext cx="2703777" cy="338328"/>
          </a:xfrm>
          <a:prstGeom prst="rect">
            <a:avLst/>
          </a:prstGeom>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EE61379F-1DAE-4E25-9687-BE447BE804F3}" type="datetime1">
              <a:rPr lang="en-US" smtClean="0"/>
              <a:t>11/28/2025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3190527"/>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182880" y="1645920"/>
            <a:ext cx="5416759"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248400" y="1645920"/>
            <a:ext cx="5261184"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D10B82-190A-4EA7-AC05-A591E560D1A2}" type="datetime1">
              <a:rPr lang="en-US" smtClean="0"/>
              <a:t>11/28/2025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2901779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181631" y="1649451"/>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245352" y="1649451"/>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0DF51803-00F0-4E6F-B1AA-53E2BBA1192A}" type="datetime1">
              <a:rPr lang="en-US" smtClean="0"/>
              <a:t>11/28/2025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441831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989EEFA-5718-49F5-8210-1919BEB46C6C}" type="datetime1">
              <a:rPr lang="en-US" smtClean="0"/>
              <a:t>11/28/2025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5552115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1A0FCB2-984E-4CB4-B239-1518B660C6C7}" type="datetime1">
              <a:rPr lang="en-US" smtClean="0"/>
              <a:t>11/28/2025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319751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78704" y="218113"/>
            <a:ext cx="3363393" cy="2345471"/>
          </a:xfrm>
        </p:spPr>
        <p:txBody>
          <a:bodyPr anchor="t">
            <a:normAutofit/>
          </a:bodyPr>
          <a:lstStyle>
            <a:lvl1pPr>
              <a:defRPr sz="30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78704" y="2563586"/>
            <a:ext cx="3363393" cy="3708232"/>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14900" y="218114"/>
            <a:ext cx="6688836" cy="6088068"/>
          </a:xfrm>
        </p:spPr>
        <p:txBody>
          <a:bodyPr vert="horz" lIns="91440" tIns="45720" rIns="91440" bIns="45720" rtlCol="0">
            <a:norm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2DB2B2F-EEA5-4959-B0F8-79E04C049B5A}" type="datetime1">
              <a:rPr lang="en-US" smtClean="0"/>
              <a:t>11/28/2025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278008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0" y="219456"/>
            <a:ext cx="3176337" cy="2628249"/>
          </a:xfrm>
        </p:spPr>
        <p:txBody>
          <a:bodyPr anchor="t">
            <a:normAutofit/>
          </a:bodyPr>
          <a:lstStyle>
            <a:lvl1pPr>
              <a:defRPr sz="30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78705" y="2847706"/>
            <a:ext cx="3180512" cy="3424111"/>
          </a:xfrm>
        </p:spPr>
        <p:txBody>
          <a:bodyPr vert="horz" lIns="91440" tIns="45720" rIns="91440" bIns="45720" rtlCol="0" anchor="b">
            <a:normAutofit/>
          </a:bodyPr>
          <a:lstStyle>
            <a:lvl1pPr marL="0" indent="0">
              <a:buNone/>
              <a:defRPr lang="en-US" dirty="0"/>
            </a:lvl1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78704" y="6387128"/>
            <a:ext cx="2016929" cy="338328"/>
          </a:xfrm>
          <a:prstGeom prst="rect">
            <a:avLst/>
          </a:prstGeom>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2310493" y="6387128"/>
            <a:ext cx="917224" cy="338328"/>
          </a:xfrm>
        </p:spPr>
        <p:txBody>
          <a:bodyPr/>
          <a:lstStyle/>
          <a:p>
            <a:fld id="{524F6D35-11C9-4481-B8E2-88B35A9BE408}" type="datetime1">
              <a:rPr lang="en-US" smtClean="0"/>
              <a:t>11/28/2025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227717" y="6387128"/>
            <a:ext cx="457200" cy="338328"/>
          </a:xfrm>
        </p:spPr>
        <p:txBody>
          <a:bodyPr/>
          <a:lstStyle/>
          <a:p>
            <a:fld id="{C8116806-1FD2-4A57-B5EA-7014AB76383B}" type="slidenum">
              <a:rPr lang="en-US" smtClean="0"/>
              <a:t>‹#›</a:t>
            </a:fld>
            <a:endParaRPr lang="en-US"/>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3962400" y="266700"/>
            <a:ext cx="7962900" cy="632460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5046856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64A183B-0C84-4957-84BD-8BF2C2386467}" type="datetime1">
              <a:rPr lang="en-US" smtClean="0"/>
              <a:t>11/28/2025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5637429"/>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78704" y="6387128"/>
            <a:ext cx="2703777" cy="338328"/>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0A7B81-421A-478C-A7A0-B074BD9B5853}" type="datetime1">
              <a:rPr lang="en-US" smtClean="0"/>
              <a:t>11/28/2025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68149519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927BAABE-EAA6-4BAC-B672-7C456A23A293}" type="datetime1">
              <a:rPr lang="en-US" smtClean="0"/>
              <a:t>11/28/2025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91360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openxmlformats.org/officeDocument/2006/relationships/hyperlink" Target="https://github.com/miatdaniel/databricks_project/tree/Main_branch/Data%20Engineering%20Assessment/U.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623D8-316C-B92D-27F4-C154607AA462}"/>
              </a:ext>
            </a:extLst>
          </p:cNvPr>
          <p:cNvSpPr>
            <a:spLocks noGrp="1"/>
          </p:cNvSpPr>
          <p:nvPr>
            <p:ph type="ctrTitle"/>
          </p:nvPr>
        </p:nvSpPr>
        <p:spPr>
          <a:xfrm>
            <a:off x="1013116" y="1129827"/>
            <a:ext cx="3490517" cy="1606012"/>
          </a:xfrm>
        </p:spPr>
        <p:txBody>
          <a:bodyPr anchor="t">
            <a:normAutofit/>
          </a:bodyPr>
          <a:lstStyle/>
          <a:p>
            <a:r>
              <a:rPr lang="en-US" sz="2800" dirty="0"/>
              <a:t>AUTOMOTIVE DATA PIPELINE:</a:t>
            </a:r>
            <a:br>
              <a:rPr lang="en-US" sz="2800" dirty="0"/>
            </a:br>
            <a:br>
              <a:rPr lang="en-US" sz="2800" dirty="0"/>
            </a:br>
            <a:endParaRPr lang="en-US" sz="2000" dirty="0"/>
          </a:p>
        </p:txBody>
      </p:sp>
      <p:sp>
        <p:nvSpPr>
          <p:cNvPr id="3" name="Subtitle 2">
            <a:extLst>
              <a:ext uri="{FF2B5EF4-FFF2-40B4-BE49-F238E27FC236}">
                <a16:creationId xmlns:a16="http://schemas.microsoft.com/office/drawing/2014/main" id="{16B016C2-C689-F913-3C07-2205829B0E6D}"/>
              </a:ext>
            </a:extLst>
          </p:cNvPr>
          <p:cNvSpPr>
            <a:spLocks noGrp="1"/>
          </p:cNvSpPr>
          <p:nvPr>
            <p:ph type="subTitle" idx="1"/>
          </p:nvPr>
        </p:nvSpPr>
        <p:spPr>
          <a:xfrm>
            <a:off x="1013116" y="4043943"/>
            <a:ext cx="3361935" cy="1684230"/>
          </a:xfrm>
        </p:spPr>
        <p:txBody>
          <a:bodyPr anchor="b">
            <a:normAutofit fontScale="25000" lnSpcReduction="20000"/>
          </a:bodyPr>
          <a:lstStyle/>
          <a:p>
            <a:endParaRPr lang="en-US" dirty="0"/>
          </a:p>
          <a:p>
            <a:r>
              <a:rPr lang="en-US" sz="5500" dirty="0"/>
              <a:t>Overview </a:t>
            </a:r>
          </a:p>
          <a:p>
            <a:r>
              <a:rPr lang="en-US" sz="3800" dirty="0"/>
              <a:t>This document overviews a data pipeline that processes automotive datasets from NHTSA, AFDC, and EPA using Databricks and the Medallion architecture. Gold-layer datasets and dashboards provide actionable insights for vehicle safety, infrastructure planning, and sustainability, using a reliable hybrid of manual and automated processing. </a:t>
            </a:r>
          </a:p>
        </p:txBody>
      </p:sp>
      <p:pic>
        <p:nvPicPr>
          <p:cNvPr id="4" name="Picture 3" descr="Computer 3D windows background">
            <a:extLst>
              <a:ext uri="{FF2B5EF4-FFF2-40B4-BE49-F238E27FC236}">
                <a16:creationId xmlns:a16="http://schemas.microsoft.com/office/drawing/2014/main" id="{C3D7C4C6-552F-41EE-AF95-86A0E5E0DC7D}"/>
              </a:ext>
            </a:extLst>
          </p:cNvPr>
          <p:cNvPicPr>
            <a:picLocks noChangeAspect="1"/>
          </p:cNvPicPr>
          <p:nvPr/>
        </p:nvPicPr>
        <p:blipFill>
          <a:blip r:embed="rId3"/>
          <a:srcRect/>
          <a:stretch>
            <a:fillRect/>
          </a:stretch>
        </p:blipFill>
        <p:spPr>
          <a:xfrm>
            <a:off x="20" y="10"/>
            <a:ext cx="12191980" cy="685799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noFill/>
        </p:spPr>
      </p:pic>
      <p:sp>
        <p:nvSpPr>
          <p:cNvPr id="6" name="TextBox 5">
            <a:extLst>
              <a:ext uri="{FF2B5EF4-FFF2-40B4-BE49-F238E27FC236}">
                <a16:creationId xmlns:a16="http://schemas.microsoft.com/office/drawing/2014/main" id="{CEBF4759-8D94-D461-1DC8-C4F953AC4673}"/>
              </a:ext>
            </a:extLst>
          </p:cNvPr>
          <p:cNvSpPr txBox="1"/>
          <p:nvPr/>
        </p:nvSpPr>
        <p:spPr>
          <a:xfrm>
            <a:off x="1013116" y="2419524"/>
            <a:ext cx="3361935" cy="1200329"/>
          </a:xfrm>
          <a:prstGeom prst="rect">
            <a:avLst/>
          </a:prstGeom>
          <a:noFill/>
        </p:spPr>
        <p:txBody>
          <a:bodyPr wrap="square">
            <a:spAutoFit/>
          </a:bodyPr>
          <a:lstStyle/>
          <a:p>
            <a:r>
              <a:rPr lang="en-US" sz="1800" dirty="0"/>
              <a:t>INGESTION, </a:t>
            </a:r>
          </a:p>
          <a:p>
            <a:r>
              <a:rPr lang="en-US" sz="1800" dirty="0"/>
              <a:t>TRANSFORMATION, </a:t>
            </a:r>
          </a:p>
          <a:p>
            <a:r>
              <a:rPr lang="en-US" sz="1000" dirty="0"/>
              <a:t>AND </a:t>
            </a:r>
            <a:r>
              <a:rPr lang="en-US" sz="1800" dirty="0"/>
              <a:t>ANALYSIS USING DATABRICKS </a:t>
            </a:r>
            <a:endParaRPr lang="en-US" dirty="0"/>
          </a:p>
        </p:txBody>
      </p:sp>
      <p:sp>
        <p:nvSpPr>
          <p:cNvPr id="8" name="TextBox 7">
            <a:extLst>
              <a:ext uri="{FF2B5EF4-FFF2-40B4-BE49-F238E27FC236}">
                <a16:creationId xmlns:a16="http://schemas.microsoft.com/office/drawing/2014/main" id="{ABCDDD1F-47DC-41C2-AA2D-D1108ED855C7}"/>
              </a:ext>
            </a:extLst>
          </p:cNvPr>
          <p:cNvSpPr txBox="1"/>
          <p:nvPr/>
        </p:nvSpPr>
        <p:spPr>
          <a:xfrm>
            <a:off x="11094578" y="6611779"/>
            <a:ext cx="1362342" cy="215444"/>
          </a:xfrm>
          <a:prstGeom prst="rect">
            <a:avLst/>
          </a:prstGeom>
          <a:noFill/>
        </p:spPr>
        <p:txBody>
          <a:bodyPr wrap="square">
            <a:spAutoFit/>
          </a:bodyPr>
          <a:lstStyle/>
          <a:p>
            <a:r>
              <a:rPr lang="en-US" sz="800" dirty="0"/>
              <a:t>Daniel Emilian Miat</a:t>
            </a:r>
          </a:p>
        </p:txBody>
      </p:sp>
      <p:sp>
        <p:nvSpPr>
          <p:cNvPr id="11" name="TextBox 10">
            <a:extLst>
              <a:ext uri="{FF2B5EF4-FFF2-40B4-BE49-F238E27FC236}">
                <a16:creationId xmlns:a16="http://schemas.microsoft.com/office/drawing/2014/main" id="{7FDB7214-6B15-8334-A8C2-97596B125CDE}"/>
              </a:ext>
            </a:extLst>
          </p:cNvPr>
          <p:cNvSpPr txBox="1"/>
          <p:nvPr/>
        </p:nvSpPr>
        <p:spPr>
          <a:xfrm>
            <a:off x="11094578" y="30777"/>
            <a:ext cx="1416465" cy="215444"/>
          </a:xfrm>
          <a:prstGeom prst="rect">
            <a:avLst/>
          </a:prstGeom>
          <a:noFill/>
        </p:spPr>
        <p:txBody>
          <a:bodyPr wrap="square">
            <a:spAutoFit/>
          </a:bodyPr>
          <a:lstStyle/>
          <a:p>
            <a:r>
              <a:rPr lang="en-US" sz="800" dirty="0"/>
              <a:t>28 November 2025</a:t>
            </a:r>
          </a:p>
        </p:txBody>
      </p:sp>
    </p:spTree>
    <p:extLst>
      <p:ext uri="{BB962C8B-B14F-4D97-AF65-F5344CB8AC3E}">
        <p14:creationId xmlns:p14="http://schemas.microsoft.com/office/powerpoint/2010/main" val="155136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700"/>
                                        <p:tgtEl>
                                          <p:spTgt spid="3">
                                            <p:txEl>
                                              <p:pRg st="1" end="1"/>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700"/>
                                        <p:tgtEl>
                                          <p:spTgt spid="3">
                                            <p:txEl>
                                              <p:pRg st="2" end="2"/>
                                            </p:txEl>
                                          </p:spTgt>
                                        </p:tgtEl>
                                      </p:cBhvr>
                                    </p:animEffect>
                                  </p:childTnLst>
                                </p:cTn>
                              </p:par>
                              <p:par>
                                <p:cTn id="14" presetID="10" presetClass="entr" presetSubtype="0" fill="hold" grpId="1" nodeType="withEffect">
                                  <p:stCondLst>
                                    <p:cond delay="250"/>
                                  </p:stCondLst>
                                  <p:iterate>
                                    <p:tmPct val="10000"/>
                                  </p:iterate>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1C55E-E0B6-D786-78EC-38F62A3B0F1F}"/>
              </a:ext>
            </a:extLst>
          </p:cNvPr>
          <p:cNvSpPr>
            <a:spLocks noGrp="1"/>
          </p:cNvSpPr>
          <p:nvPr>
            <p:ph type="title"/>
          </p:nvPr>
        </p:nvSpPr>
        <p:spPr>
          <a:xfrm>
            <a:off x="157729" y="3200400"/>
            <a:ext cx="9002895" cy="3582184"/>
          </a:xfrm>
        </p:spPr>
        <p:txBody>
          <a:bodyPr anchor="b">
            <a:normAutofit/>
          </a:bodyPr>
          <a:lstStyle/>
          <a:p>
            <a:r>
              <a:rPr lang="en-US"/>
              <a:t>Project Overview and Objectives</a:t>
            </a:r>
          </a:p>
        </p:txBody>
      </p:sp>
    </p:spTree>
    <p:extLst>
      <p:ext uri="{BB962C8B-B14F-4D97-AF65-F5344CB8AC3E}">
        <p14:creationId xmlns:p14="http://schemas.microsoft.com/office/powerpoint/2010/main" val="15518119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16F38-673F-3689-298B-3F5DA1E20BAF}"/>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Title &amp; Overview of the Pipeline</a:t>
            </a:r>
          </a:p>
        </p:txBody>
      </p:sp>
      <p:sp>
        <p:nvSpPr>
          <p:cNvPr id="5" name="TextBox 4">
            <a:extLst>
              <a:ext uri="{FF2B5EF4-FFF2-40B4-BE49-F238E27FC236}">
                <a16:creationId xmlns:a16="http://schemas.microsoft.com/office/drawing/2014/main" id="{EB6D477E-EE97-451B-AF1A-8CD1DC55C0A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Data Sources Integration</a:t>
            </a:r>
          </a:p>
          <a:p>
            <a:pPr marL="0" lvl="1" indent="0">
              <a:spcBef>
                <a:spcPts val="1000"/>
              </a:spcBef>
              <a:spcAft>
                <a:spcPts val="600"/>
              </a:spcAft>
              <a:buFont typeface="Arial" panose="020B0604020202020204" pitchFamily="34" charset="0"/>
              <a:buNone/>
            </a:pPr>
            <a:r>
              <a:rPr lang="en-US" sz="1400"/>
              <a:t>The pipeline integrates vehicle complaints, alternative fuel stations, and fuel economy data from public sources.</a:t>
            </a:r>
          </a:p>
          <a:p>
            <a:pPr marL="0" indent="0">
              <a:spcBef>
                <a:spcPts val="2500"/>
              </a:spcBef>
              <a:spcAft>
                <a:spcPts val="600"/>
              </a:spcAft>
              <a:buFont typeface="Arial" panose="020B0604020202020204" pitchFamily="34" charset="0"/>
              <a:buNone/>
            </a:pPr>
            <a:r>
              <a:rPr lang="en-US" sz="1400" b="1"/>
              <a:t>Medallion Architecture Layers</a:t>
            </a:r>
          </a:p>
          <a:p>
            <a:pPr marL="0" lvl="1" indent="0">
              <a:spcBef>
                <a:spcPts val="1000"/>
              </a:spcBef>
              <a:spcAft>
                <a:spcPts val="600"/>
              </a:spcAft>
              <a:buFont typeface="Arial" panose="020B0604020202020204" pitchFamily="34" charset="0"/>
              <a:buNone/>
            </a:pPr>
            <a:r>
              <a:rPr lang="en-US" sz="1400"/>
              <a:t>Data is organized into Bronze, Silver, and Gold layers to ensure quality, scalability, and auditability.</a:t>
            </a:r>
          </a:p>
          <a:p>
            <a:pPr marL="0" indent="0">
              <a:spcBef>
                <a:spcPts val="2500"/>
              </a:spcBef>
              <a:spcAft>
                <a:spcPts val="600"/>
              </a:spcAft>
              <a:buFont typeface="Arial" panose="020B0604020202020204" pitchFamily="34" charset="0"/>
              <a:buNone/>
            </a:pPr>
            <a:r>
              <a:rPr lang="en-US" sz="1400" b="1"/>
              <a:t>Pipeline Design and Tools</a:t>
            </a:r>
          </a:p>
          <a:p>
            <a:pPr marL="0" lvl="1" indent="0">
              <a:spcBef>
                <a:spcPts val="1000"/>
              </a:spcBef>
              <a:spcAft>
                <a:spcPts val="600"/>
              </a:spcAft>
              <a:buFont typeface="Arial" panose="020B0604020202020204" pitchFamily="34" charset="0"/>
              <a:buNone/>
            </a:pPr>
            <a:r>
              <a:rPr lang="en-US" sz="1400"/>
              <a:t>Combines manual ingestion and automated processing using Databricks, Python, SQL, and Delta Lake.</a:t>
            </a:r>
          </a:p>
          <a:p>
            <a:pPr marL="0" indent="0">
              <a:spcBef>
                <a:spcPts val="2500"/>
              </a:spcBef>
              <a:spcAft>
                <a:spcPts val="600"/>
              </a:spcAft>
              <a:buFont typeface="Arial" panose="020B0604020202020204" pitchFamily="34" charset="0"/>
              <a:buNone/>
            </a:pPr>
            <a:r>
              <a:rPr lang="en-US" sz="1400" b="1"/>
              <a:t>Transparency and Reproducibility</a:t>
            </a:r>
          </a:p>
          <a:p>
            <a:pPr marL="0" lvl="1" indent="0">
              <a:spcBef>
                <a:spcPts val="1000"/>
              </a:spcBef>
              <a:spcAft>
                <a:spcPts val="600"/>
              </a:spcAft>
              <a:buFont typeface="Arial" panose="020B0604020202020204" pitchFamily="34" charset="0"/>
              <a:buNone/>
            </a:pPr>
            <a:r>
              <a:rPr lang="en-US" sz="1400"/>
              <a:t>GitHub repository provides scripts, data samples, and dashboards to ensure transparency and reproducibility.</a:t>
            </a:r>
          </a:p>
        </p:txBody>
      </p:sp>
      <p:pic>
        <p:nvPicPr>
          <p:cNvPr id="4" name="Content Placeholder 3" descr="Flow chart or blockchain concept">
            <a:extLst>
              <a:ext uri="{FF2B5EF4-FFF2-40B4-BE49-F238E27FC236}">
                <a16:creationId xmlns:a16="http://schemas.microsoft.com/office/drawing/2014/main" id="{FD9DB071-97AD-4B2F-9558-2797EC6BD1B9}"/>
              </a:ext>
            </a:extLst>
          </p:cNvPr>
          <p:cNvPicPr>
            <a:picLocks noGrp="1" noChangeAspect="1"/>
          </p:cNvPicPr>
          <p:nvPr>
            <p:ph type="pic" sz="quarter" idx="13"/>
          </p:nvPr>
        </p:nvPicPr>
        <p:blipFill>
          <a:blip r:embed="rId3"/>
          <a:srcRect l="32126" r="27867" b="-1"/>
          <a:stretch>
            <a:fillRect/>
          </a:stretch>
        </p:blipFill>
        <p:spPr>
          <a:xfrm>
            <a:off x="7505700" y="266700"/>
            <a:ext cx="4419600" cy="6324600"/>
          </a:xfrm>
          <a:prstGeom prst="rect">
            <a:avLst/>
          </a:prstGeom>
          <a:noFill/>
        </p:spPr>
      </p:pic>
    </p:spTree>
    <p:extLst>
      <p:ext uri="{BB962C8B-B14F-4D97-AF65-F5344CB8AC3E}">
        <p14:creationId xmlns:p14="http://schemas.microsoft.com/office/powerpoint/2010/main" val="2485807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9E8A-6FF0-F4D8-6A15-E2F5B5C18C11}"/>
              </a:ext>
            </a:extLst>
          </p:cNvPr>
          <p:cNvSpPr>
            <a:spLocks noGrp="1"/>
          </p:cNvSpPr>
          <p:nvPr>
            <p:ph type="title"/>
          </p:nvPr>
        </p:nvSpPr>
        <p:spPr>
          <a:xfrm>
            <a:off x="157729" y="3200400"/>
            <a:ext cx="9002895" cy="3582184"/>
          </a:xfrm>
        </p:spPr>
        <p:txBody>
          <a:bodyPr anchor="b">
            <a:normAutofit/>
          </a:bodyPr>
          <a:lstStyle/>
          <a:p>
            <a:r>
              <a:rPr lang="en-US"/>
              <a:t>Scripts and Execution</a:t>
            </a:r>
          </a:p>
        </p:txBody>
      </p:sp>
    </p:spTree>
    <p:extLst>
      <p:ext uri="{BB962C8B-B14F-4D97-AF65-F5344CB8AC3E}">
        <p14:creationId xmlns:p14="http://schemas.microsoft.com/office/powerpoint/2010/main" val="16804688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39652-ABD1-A879-DECA-99CB220CDEAC}"/>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dirty="0">
                <a:latin typeface="+mj-lt"/>
                <a:ea typeface="+mj-ea"/>
                <a:cs typeface="+mj-cs"/>
              </a:rPr>
              <a:t>Explanation of Scripts</a:t>
            </a:r>
            <a:br>
              <a:rPr lang="en-US" b="0" kern="1200" spc="-100" baseline="0" dirty="0">
                <a:latin typeface="+mj-lt"/>
                <a:ea typeface="+mj-ea"/>
                <a:cs typeface="+mj-cs"/>
              </a:rPr>
            </a:br>
            <a:br>
              <a:rPr lang="en-US" b="0" kern="1200" spc="-100" baseline="0" dirty="0">
                <a:latin typeface="+mj-lt"/>
                <a:ea typeface="+mj-ea"/>
                <a:cs typeface="+mj-cs"/>
              </a:rPr>
            </a:br>
            <a:endParaRPr lang="en-US" sz="1100" b="1" kern="1200" spc="-100" baseline="0" dirty="0">
              <a:latin typeface="+mj-lt"/>
              <a:ea typeface="+mj-ea"/>
              <a:cs typeface="+mj-cs"/>
            </a:endParaRPr>
          </a:p>
        </p:txBody>
      </p:sp>
      <p:pic>
        <p:nvPicPr>
          <p:cNvPr id="4" name="Content Placeholder 3" descr="Files on digital background">
            <a:extLst>
              <a:ext uri="{FF2B5EF4-FFF2-40B4-BE49-F238E27FC236}">
                <a16:creationId xmlns:a16="http://schemas.microsoft.com/office/drawing/2014/main" id="{294748AB-29AB-49C1-BB35-E6F2DF2AA2E6}"/>
              </a:ext>
            </a:extLst>
          </p:cNvPr>
          <p:cNvPicPr>
            <a:picLocks noGrp="1" noChangeAspect="1"/>
          </p:cNvPicPr>
          <p:nvPr>
            <p:ph type="pic" sz="quarter" idx="13"/>
          </p:nvPr>
        </p:nvPicPr>
        <p:blipFill>
          <a:blip r:embed="rId3"/>
          <a:srcRect l="27308" r="26058" b="1"/>
          <a:stretch>
            <a:fillRect/>
          </a:stretch>
        </p:blipFill>
        <p:spPr>
          <a:xfrm>
            <a:off x="274320" y="268573"/>
            <a:ext cx="4419600" cy="6325969"/>
          </a:xfrm>
          <a:prstGeom prst="rect">
            <a:avLst/>
          </a:prstGeom>
          <a:noFill/>
        </p:spPr>
      </p:pic>
      <p:sp>
        <p:nvSpPr>
          <p:cNvPr id="5" name="TextBox 4">
            <a:extLst>
              <a:ext uri="{FF2B5EF4-FFF2-40B4-BE49-F238E27FC236}">
                <a16:creationId xmlns:a16="http://schemas.microsoft.com/office/drawing/2014/main" id="{82CF7B93-E174-4325-A6AC-32C0AEC659D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6376546" cy="4986355"/>
          </a:xfrm>
          <a:prstGeom prst="rect">
            <a:avLst/>
          </a:prstGeom>
        </p:spPr>
        <p:txBody>
          <a:bodyPr>
            <a:normAutofit lnSpcReduction="10000"/>
          </a:bodyPr>
          <a:lstStyle/>
          <a:p>
            <a:pPr marL="0" indent="0">
              <a:spcBef>
                <a:spcPts val="2500"/>
              </a:spcBef>
              <a:spcAft>
                <a:spcPts val="600"/>
              </a:spcAft>
              <a:buFont typeface="Arial" panose="020B0604020202020204" pitchFamily="34" charset="0"/>
              <a:buNone/>
            </a:pPr>
            <a:r>
              <a:rPr lang="en-US" sz="1400" b="1" dirty="0"/>
              <a:t>Modular Script Organization</a:t>
            </a:r>
          </a:p>
          <a:p>
            <a:pPr marL="0" lvl="1" indent="0">
              <a:spcBef>
                <a:spcPts val="1000"/>
              </a:spcBef>
              <a:spcAft>
                <a:spcPts val="600"/>
              </a:spcAft>
              <a:buFont typeface="Arial" panose="020B0604020202020204" pitchFamily="34" charset="0"/>
              <a:buNone/>
            </a:pPr>
            <a:r>
              <a:rPr lang="en-US" sz="1400" dirty="0"/>
              <a:t>Scripts are organized by dataset folders, enabling easy navigation and reuse within the GitHub repository.</a:t>
            </a:r>
          </a:p>
          <a:p>
            <a:pPr marL="0" lvl="1" indent="0">
              <a:spcBef>
                <a:spcPts val="1000"/>
              </a:spcBef>
              <a:spcAft>
                <a:spcPts val="600"/>
              </a:spcAft>
              <a:buFont typeface="Arial" panose="020B0604020202020204" pitchFamily="34" charset="0"/>
              <a:buNone/>
            </a:pPr>
            <a:r>
              <a:rPr lang="en-US" sz="1400" dirty="0" err="1">
                <a:hlinkClick r:id="rId4"/>
              </a:rPr>
              <a:t>databricks_project</a:t>
            </a:r>
            <a:r>
              <a:rPr lang="en-US" sz="1400" dirty="0">
                <a:hlinkClick r:id="rId4"/>
              </a:rPr>
              <a:t>/Data Engineering Assessment/U.S at </a:t>
            </a:r>
            <a:r>
              <a:rPr lang="en-US" sz="1400" dirty="0" err="1">
                <a:hlinkClick r:id="rId4"/>
              </a:rPr>
              <a:t>Main_branch</a:t>
            </a:r>
            <a:r>
              <a:rPr lang="en-US" sz="1400" dirty="0">
                <a:hlinkClick r:id="rId4"/>
              </a:rPr>
              <a:t> · </a:t>
            </a:r>
            <a:r>
              <a:rPr lang="en-US" sz="1400" dirty="0" err="1">
                <a:hlinkClick r:id="rId4"/>
              </a:rPr>
              <a:t>miatdaniel</a:t>
            </a:r>
            <a:r>
              <a:rPr lang="en-US" sz="1400" dirty="0">
                <a:hlinkClick r:id="rId4"/>
              </a:rPr>
              <a:t>/</a:t>
            </a:r>
            <a:r>
              <a:rPr lang="en-US" sz="1400" dirty="0" err="1">
                <a:hlinkClick r:id="rId4"/>
              </a:rPr>
              <a:t>databricks_project</a:t>
            </a:r>
            <a:endParaRPr lang="en-US" sz="1400" dirty="0"/>
          </a:p>
          <a:p>
            <a:pPr marL="0" indent="0">
              <a:spcBef>
                <a:spcPts val="2500"/>
              </a:spcBef>
              <a:spcAft>
                <a:spcPts val="600"/>
              </a:spcAft>
              <a:buFont typeface="Arial" panose="020B0604020202020204" pitchFamily="34" charset="0"/>
              <a:buNone/>
            </a:pPr>
            <a:r>
              <a:rPr lang="en-US" sz="1400" b="1" dirty="0"/>
              <a:t>Data Pipeline Workflow</a:t>
            </a:r>
          </a:p>
          <a:p>
            <a:pPr marL="0" lvl="1" indent="0">
              <a:spcBef>
                <a:spcPts val="1000"/>
              </a:spcBef>
              <a:spcAft>
                <a:spcPts val="600"/>
              </a:spcAft>
              <a:buFont typeface="Arial" panose="020B0604020202020204" pitchFamily="34" charset="0"/>
              <a:buNone/>
            </a:pPr>
            <a:r>
              <a:rPr lang="en-US" sz="1400" dirty="0"/>
              <a:t>Workflows include ingestion, cleaning, transformation, and loading with detailed steps documented in notebooks.</a:t>
            </a:r>
          </a:p>
          <a:p>
            <a:pPr marL="0" indent="0">
              <a:spcBef>
                <a:spcPts val="2500"/>
              </a:spcBef>
              <a:spcAft>
                <a:spcPts val="600"/>
              </a:spcAft>
              <a:buFont typeface="Arial" panose="020B0604020202020204" pitchFamily="34" charset="0"/>
              <a:buNone/>
            </a:pPr>
            <a:r>
              <a:rPr lang="en-US" sz="1400" b="1" dirty="0"/>
              <a:t>Best Practices Implementation</a:t>
            </a:r>
          </a:p>
          <a:p>
            <a:pPr marL="0" lvl="1" indent="0">
              <a:spcBef>
                <a:spcPts val="1000"/>
              </a:spcBef>
              <a:spcAft>
                <a:spcPts val="600"/>
              </a:spcAft>
              <a:buFont typeface="Arial" panose="020B0604020202020204" pitchFamily="34" charset="0"/>
              <a:buNone/>
            </a:pPr>
            <a:r>
              <a:rPr lang="en-US" sz="1400" dirty="0"/>
              <a:t>Scripts enforce schema definitions, normalize columns, and handle null values using safe defaults for consistency.</a:t>
            </a:r>
          </a:p>
          <a:p>
            <a:pPr marL="0" indent="0">
              <a:spcBef>
                <a:spcPts val="2500"/>
              </a:spcBef>
              <a:spcAft>
                <a:spcPts val="600"/>
              </a:spcAft>
              <a:buFont typeface="Arial" panose="020B0604020202020204" pitchFamily="34" charset="0"/>
              <a:buNone/>
            </a:pPr>
            <a:r>
              <a:rPr lang="en-US" sz="1400" b="1" dirty="0"/>
              <a:t>Clear Documentation</a:t>
            </a:r>
          </a:p>
          <a:p>
            <a:pPr marL="0" lvl="1" indent="0">
              <a:spcBef>
                <a:spcPts val="1000"/>
              </a:spcBef>
              <a:spcAft>
                <a:spcPts val="600"/>
              </a:spcAft>
              <a:buFont typeface="Arial" panose="020B0604020202020204" pitchFamily="34" charset="0"/>
              <a:buNone/>
            </a:pPr>
            <a:r>
              <a:rPr lang="en-US" sz="1400" dirty="0"/>
              <a:t>Databricks notebooks include detailed Markdown comments explaining every step for user understanding and replication.</a:t>
            </a:r>
          </a:p>
        </p:txBody>
      </p:sp>
    </p:spTree>
    <p:extLst>
      <p:ext uri="{BB962C8B-B14F-4D97-AF65-F5344CB8AC3E}">
        <p14:creationId xmlns:p14="http://schemas.microsoft.com/office/powerpoint/2010/main" val="3664552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92D21-BE46-A4A2-B1E3-2D25B28261C0}"/>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How to Run Scripts</a:t>
            </a:r>
          </a:p>
        </p:txBody>
      </p:sp>
      <p:pic>
        <p:nvPicPr>
          <p:cNvPr id="4" name="Content Placeholder 3" descr="laptop computer and Social media symbols">
            <a:extLst>
              <a:ext uri="{FF2B5EF4-FFF2-40B4-BE49-F238E27FC236}">
                <a16:creationId xmlns:a16="http://schemas.microsoft.com/office/drawing/2014/main" id="{7AC965FF-4C7A-408C-8473-C57A390CB86D}"/>
              </a:ext>
            </a:extLst>
          </p:cNvPr>
          <p:cNvPicPr>
            <a:picLocks noGrp="1" noChangeAspect="1"/>
          </p:cNvPicPr>
          <p:nvPr>
            <p:ph type="pic" sz="quarter" idx="13"/>
          </p:nvPr>
        </p:nvPicPr>
        <p:blipFill>
          <a:blip r:embed="rId3"/>
          <a:srcRect l="26231" r="27135" b="1"/>
          <a:stretch>
            <a:fillRect/>
          </a:stretch>
        </p:blipFill>
        <p:spPr>
          <a:xfrm>
            <a:off x="274320" y="268573"/>
            <a:ext cx="4419600" cy="6325969"/>
          </a:xfrm>
          <a:prstGeom prst="rect">
            <a:avLst/>
          </a:prstGeom>
          <a:noFill/>
        </p:spPr>
      </p:pic>
      <p:sp>
        <p:nvSpPr>
          <p:cNvPr id="5" name="TextBox 4">
            <a:extLst>
              <a:ext uri="{FF2B5EF4-FFF2-40B4-BE49-F238E27FC236}">
                <a16:creationId xmlns:a16="http://schemas.microsoft.com/office/drawing/2014/main" id="{DE398DF0-4CB2-4149-935F-D31F3058E9D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6376546" cy="498635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Sequential Notebook Execution</a:t>
            </a:r>
          </a:p>
          <a:p>
            <a:pPr marL="0" lvl="1" indent="0">
              <a:spcBef>
                <a:spcPts val="1000"/>
              </a:spcBef>
              <a:spcAft>
                <a:spcPts val="600"/>
              </a:spcAft>
              <a:buFont typeface="Arial" panose="020B0604020202020204" pitchFamily="34" charset="0"/>
              <a:buNone/>
            </a:pPr>
            <a:r>
              <a:rPr lang="en-US" sz="1400"/>
              <a:t>Users run notebooks in order following the Medallion architecture: Bronze, Silver, then Gold layers.</a:t>
            </a:r>
          </a:p>
          <a:p>
            <a:pPr marL="0" indent="0">
              <a:spcBef>
                <a:spcPts val="2500"/>
              </a:spcBef>
              <a:spcAft>
                <a:spcPts val="600"/>
              </a:spcAft>
              <a:buFont typeface="Arial" panose="020B0604020202020204" pitchFamily="34" charset="0"/>
              <a:buNone/>
            </a:pPr>
            <a:r>
              <a:rPr lang="en-US" sz="1400" b="1"/>
              <a:t>Bronze Layer Data Ingestion</a:t>
            </a:r>
          </a:p>
          <a:p>
            <a:pPr marL="0" lvl="1" indent="0">
              <a:spcBef>
                <a:spcPts val="1000"/>
              </a:spcBef>
              <a:spcAft>
                <a:spcPts val="600"/>
              </a:spcAft>
              <a:buFont typeface="Arial" panose="020B0604020202020204" pitchFamily="34" charset="0"/>
              <a:buNone/>
            </a:pPr>
            <a:r>
              <a:rPr lang="en-US" sz="1400"/>
              <a:t>Bronze scripts handle raw data ingestion including file downloads, extraction, and loading to Delta tables.</a:t>
            </a:r>
          </a:p>
          <a:p>
            <a:pPr marL="0" indent="0">
              <a:spcBef>
                <a:spcPts val="2500"/>
              </a:spcBef>
              <a:spcAft>
                <a:spcPts val="600"/>
              </a:spcAft>
              <a:buFont typeface="Arial" panose="020B0604020202020204" pitchFamily="34" charset="0"/>
              <a:buNone/>
            </a:pPr>
            <a:r>
              <a:rPr lang="en-US" sz="1400" b="1"/>
              <a:t>Silver Layer Data Transformation</a:t>
            </a:r>
          </a:p>
          <a:p>
            <a:pPr marL="0" lvl="1" indent="0">
              <a:spcBef>
                <a:spcPts val="1000"/>
              </a:spcBef>
              <a:spcAft>
                <a:spcPts val="600"/>
              </a:spcAft>
              <a:buFont typeface="Arial" panose="020B0604020202020204" pitchFamily="34" charset="0"/>
              <a:buNone/>
            </a:pPr>
            <a:r>
              <a:rPr lang="en-US" sz="1400"/>
              <a:t>Silver layer scripts clean and standardize data by trimming whitespace, normalizing, and converting types.</a:t>
            </a:r>
          </a:p>
          <a:p>
            <a:pPr marL="0" indent="0">
              <a:spcBef>
                <a:spcPts val="2500"/>
              </a:spcBef>
              <a:spcAft>
                <a:spcPts val="600"/>
              </a:spcAft>
              <a:buFont typeface="Arial" panose="020B0604020202020204" pitchFamily="34" charset="0"/>
              <a:buNone/>
            </a:pPr>
            <a:r>
              <a:rPr lang="en-US" sz="1400" b="1"/>
              <a:t>Gold Layer Data Finalization</a:t>
            </a:r>
          </a:p>
          <a:p>
            <a:pPr marL="0" lvl="1" indent="0">
              <a:spcBef>
                <a:spcPts val="1000"/>
              </a:spcBef>
              <a:spcAft>
                <a:spcPts val="600"/>
              </a:spcAft>
              <a:buFont typeface="Arial" panose="020B0604020202020204" pitchFamily="34" charset="0"/>
              <a:buNone/>
            </a:pPr>
            <a:r>
              <a:rPr lang="en-US" sz="1400"/>
              <a:t>Gold layer scripts enforce schema, cast fields, and optimize datasets for analytics and reporting.</a:t>
            </a:r>
          </a:p>
        </p:txBody>
      </p:sp>
    </p:spTree>
    <p:extLst>
      <p:ext uri="{BB962C8B-B14F-4D97-AF65-F5344CB8AC3E}">
        <p14:creationId xmlns:p14="http://schemas.microsoft.com/office/powerpoint/2010/main" val="976109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14E44-D077-DF78-6B6E-6DC9969AFAAA}"/>
              </a:ext>
            </a:extLst>
          </p:cNvPr>
          <p:cNvSpPr>
            <a:spLocks noGrp="1"/>
          </p:cNvSpPr>
          <p:nvPr>
            <p:ph type="title"/>
          </p:nvPr>
        </p:nvSpPr>
        <p:spPr>
          <a:xfrm>
            <a:off x="157729" y="3200400"/>
            <a:ext cx="9002895" cy="3582184"/>
          </a:xfrm>
        </p:spPr>
        <p:txBody>
          <a:bodyPr anchor="b">
            <a:normAutofit/>
          </a:bodyPr>
          <a:lstStyle/>
          <a:p>
            <a:r>
              <a:rPr lang="en-US"/>
              <a:t>Data Processing and Transformation Decisions</a:t>
            </a:r>
          </a:p>
        </p:txBody>
      </p:sp>
    </p:spTree>
    <p:extLst>
      <p:ext uri="{BB962C8B-B14F-4D97-AF65-F5344CB8AC3E}">
        <p14:creationId xmlns:p14="http://schemas.microsoft.com/office/powerpoint/2010/main" val="11002202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C9FF8-05A7-3A1C-A5ED-BBCD9CD5F3CF}"/>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Data Processing Decisions</a:t>
            </a:r>
          </a:p>
        </p:txBody>
      </p:sp>
      <p:sp>
        <p:nvSpPr>
          <p:cNvPr id="5" name="TextBox 4">
            <a:extLst>
              <a:ext uri="{FF2B5EF4-FFF2-40B4-BE49-F238E27FC236}">
                <a16:creationId xmlns:a16="http://schemas.microsoft.com/office/drawing/2014/main" id="{82094241-704D-4FB9-9139-6990ED9A71C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Data Cleaning and Normalization</a:t>
            </a:r>
          </a:p>
          <a:p>
            <a:pPr marL="0" lvl="1" indent="0">
              <a:spcBef>
                <a:spcPts val="1000"/>
              </a:spcBef>
              <a:spcAft>
                <a:spcPts val="600"/>
              </a:spcAft>
              <a:buFont typeface="Arial" panose="020B0604020202020204" pitchFamily="34" charset="0"/>
              <a:buNone/>
            </a:pPr>
            <a:r>
              <a:rPr lang="en-US" sz="1400"/>
              <a:t>Whitespace trimming and string normalization remove inconsistencies to improve join and aggregation accuracy.</a:t>
            </a:r>
          </a:p>
          <a:p>
            <a:pPr marL="0" indent="0">
              <a:spcBef>
                <a:spcPts val="2500"/>
              </a:spcBef>
              <a:spcAft>
                <a:spcPts val="600"/>
              </a:spcAft>
              <a:buFont typeface="Arial" panose="020B0604020202020204" pitchFamily="34" charset="0"/>
              <a:buNone/>
            </a:pPr>
            <a:r>
              <a:rPr lang="en-US" sz="1400" b="1"/>
              <a:t>Null Value Handling</a:t>
            </a:r>
          </a:p>
          <a:p>
            <a:pPr marL="0" lvl="1" indent="0">
              <a:spcBef>
                <a:spcPts val="1000"/>
              </a:spcBef>
              <a:spcAft>
                <a:spcPts val="600"/>
              </a:spcAft>
              <a:buFont typeface="Arial" panose="020B0604020202020204" pitchFamily="34" charset="0"/>
              <a:buNone/>
            </a:pPr>
            <a:r>
              <a:rPr lang="en-US" sz="1400"/>
              <a:t>Type-appropriate default values replace nulls, preserving column integrity without losing data fields.</a:t>
            </a:r>
          </a:p>
          <a:p>
            <a:pPr marL="0" indent="0">
              <a:spcBef>
                <a:spcPts val="2500"/>
              </a:spcBef>
              <a:spcAft>
                <a:spcPts val="600"/>
              </a:spcAft>
              <a:buFont typeface="Arial" panose="020B0604020202020204" pitchFamily="34" charset="0"/>
              <a:buNone/>
            </a:pPr>
            <a:r>
              <a:rPr lang="en-US" sz="1400" b="1"/>
              <a:t>Duplicate Detection</a:t>
            </a:r>
          </a:p>
          <a:p>
            <a:pPr marL="0" lvl="1" indent="0">
              <a:spcBef>
                <a:spcPts val="1000"/>
              </a:spcBef>
              <a:spcAft>
                <a:spcPts val="600"/>
              </a:spcAft>
              <a:buFont typeface="Arial" panose="020B0604020202020204" pitchFamily="34" charset="0"/>
              <a:buNone/>
            </a:pPr>
            <a:r>
              <a:rPr lang="en-US" sz="1400"/>
              <a:t>Unique identifiers like CMPLID help detect and remove duplicates, ensuring data record distinctness.</a:t>
            </a:r>
          </a:p>
          <a:p>
            <a:pPr marL="0" indent="0">
              <a:spcBef>
                <a:spcPts val="2500"/>
              </a:spcBef>
              <a:spcAft>
                <a:spcPts val="600"/>
              </a:spcAft>
              <a:buFont typeface="Arial" panose="020B0604020202020204" pitchFamily="34" charset="0"/>
              <a:buNone/>
            </a:pPr>
            <a:r>
              <a:rPr lang="en-US" sz="1400" b="1"/>
              <a:t>Repartitioning for Performance</a:t>
            </a:r>
          </a:p>
          <a:p>
            <a:pPr marL="0" lvl="1" indent="0">
              <a:spcBef>
                <a:spcPts val="1000"/>
              </a:spcBef>
              <a:spcAft>
                <a:spcPts val="600"/>
              </a:spcAft>
              <a:buFont typeface="Arial" panose="020B0604020202020204" pitchFamily="34" charset="0"/>
              <a:buNone/>
            </a:pPr>
            <a:r>
              <a:rPr lang="en-US" sz="1400"/>
              <a:t>Repartitioning optimizes file sizes and enhances read/write operations for better system performance.</a:t>
            </a:r>
          </a:p>
        </p:txBody>
      </p:sp>
      <p:pic>
        <p:nvPicPr>
          <p:cNvPr id="4" name="Content Placeholder 3" descr="Global communication and collaboration intricately involving electronic ropes and keys through social networking of smart phones equipped with AI.">
            <a:extLst>
              <a:ext uri="{FF2B5EF4-FFF2-40B4-BE49-F238E27FC236}">
                <a16:creationId xmlns:a16="http://schemas.microsoft.com/office/drawing/2014/main" id="{270E0A4C-A98A-418F-A12A-B12AEDAD567A}"/>
              </a:ext>
            </a:extLst>
          </p:cNvPr>
          <p:cNvPicPr>
            <a:picLocks noGrp="1" noChangeAspect="1"/>
          </p:cNvPicPr>
          <p:nvPr>
            <p:ph type="pic" sz="quarter" idx="13"/>
          </p:nvPr>
        </p:nvPicPr>
        <p:blipFill>
          <a:blip r:embed="rId3"/>
          <a:srcRect l="30663" r="22693" b="2"/>
          <a:stretch>
            <a:fillRect/>
          </a:stretch>
        </p:blipFill>
        <p:spPr>
          <a:xfrm>
            <a:off x="7505700" y="266700"/>
            <a:ext cx="4419600" cy="6324600"/>
          </a:xfrm>
          <a:prstGeom prst="rect">
            <a:avLst/>
          </a:prstGeom>
          <a:noFill/>
        </p:spPr>
      </p:pic>
    </p:spTree>
    <p:extLst>
      <p:ext uri="{BB962C8B-B14F-4D97-AF65-F5344CB8AC3E}">
        <p14:creationId xmlns:p14="http://schemas.microsoft.com/office/powerpoint/2010/main" val="2673551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FADEC-A1C0-329B-F1D6-D02A46735DD7}"/>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Data Transformation Decisions</a:t>
            </a:r>
          </a:p>
        </p:txBody>
      </p:sp>
      <p:pic>
        <p:nvPicPr>
          <p:cNvPr id="4" name="Content Placeholder 3" descr="Cloud computing concept isolated on white background">
            <a:extLst>
              <a:ext uri="{FF2B5EF4-FFF2-40B4-BE49-F238E27FC236}">
                <a16:creationId xmlns:a16="http://schemas.microsoft.com/office/drawing/2014/main" id="{7AC1EAFA-C1ED-4FA2-A398-7C45A2F2C983}"/>
              </a:ext>
            </a:extLst>
          </p:cNvPr>
          <p:cNvPicPr>
            <a:picLocks noGrp="1" noChangeAspect="1"/>
          </p:cNvPicPr>
          <p:nvPr>
            <p:ph type="pic" sz="quarter" idx="13"/>
          </p:nvPr>
        </p:nvPicPr>
        <p:blipFill>
          <a:blip r:embed="rId3"/>
          <a:srcRect l="22790" r="24812" b="2"/>
          <a:stretch>
            <a:fillRect/>
          </a:stretch>
        </p:blipFill>
        <p:spPr>
          <a:xfrm>
            <a:off x="274320" y="268573"/>
            <a:ext cx="4419600" cy="6325969"/>
          </a:xfrm>
          <a:prstGeom prst="rect">
            <a:avLst/>
          </a:prstGeom>
          <a:noFill/>
        </p:spPr>
      </p:pic>
      <p:sp>
        <p:nvSpPr>
          <p:cNvPr id="5" name="TextBox 4">
            <a:extLst>
              <a:ext uri="{FF2B5EF4-FFF2-40B4-BE49-F238E27FC236}">
                <a16:creationId xmlns:a16="http://schemas.microsoft.com/office/drawing/2014/main" id="{D69D1E01-AA08-4857-9C51-89C083442B1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6376546" cy="498635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Schema Enforcement</a:t>
            </a:r>
          </a:p>
          <a:p>
            <a:pPr marL="0" lvl="1" indent="0">
              <a:spcBef>
                <a:spcPts val="1000"/>
              </a:spcBef>
              <a:spcAft>
                <a:spcPts val="600"/>
              </a:spcAft>
              <a:buFont typeface="Arial" panose="020B0604020202020204" pitchFamily="34" charset="0"/>
              <a:buNone/>
            </a:pPr>
            <a:r>
              <a:rPr lang="en-US" sz="1400"/>
              <a:t>Strict schema enforcement ensures data compatibility with BI tools and analytics platforms for consistent reporting.</a:t>
            </a:r>
          </a:p>
          <a:p>
            <a:pPr marL="0" indent="0">
              <a:spcBef>
                <a:spcPts val="2500"/>
              </a:spcBef>
              <a:spcAft>
                <a:spcPts val="600"/>
              </a:spcAft>
              <a:buFont typeface="Arial" panose="020B0604020202020204" pitchFamily="34" charset="0"/>
              <a:buNone/>
            </a:pPr>
            <a:r>
              <a:rPr lang="en-US" sz="1400" b="1"/>
              <a:t>Data Standardization</a:t>
            </a:r>
          </a:p>
          <a:p>
            <a:pPr marL="0" lvl="1" indent="0">
              <a:spcBef>
                <a:spcPts val="1000"/>
              </a:spcBef>
              <a:spcAft>
                <a:spcPts val="600"/>
              </a:spcAft>
              <a:buFont typeface="Arial" panose="020B0604020202020204" pitchFamily="34" charset="0"/>
              <a:buNone/>
            </a:pPr>
            <a:r>
              <a:rPr lang="en-US" sz="1400"/>
              <a:t>Standardizing categorical and numeric fields maintains uniformity and accuracy across dashboards and calculations.</a:t>
            </a:r>
          </a:p>
          <a:p>
            <a:pPr marL="0" indent="0">
              <a:spcBef>
                <a:spcPts val="2500"/>
              </a:spcBef>
              <a:spcAft>
                <a:spcPts val="600"/>
              </a:spcAft>
              <a:buFont typeface="Arial" panose="020B0604020202020204" pitchFamily="34" charset="0"/>
              <a:buNone/>
            </a:pPr>
            <a:r>
              <a:rPr lang="en-US" sz="1400" b="1"/>
              <a:t>Data Cleaning and Optimization</a:t>
            </a:r>
          </a:p>
          <a:p>
            <a:pPr marL="0" lvl="1" indent="0">
              <a:spcBef>
                <a:spcPts val="1000"/>
              </a:spcBef>
              <a:spcAft>
                <a:spcPts val="600"/>
              </a:spcAft>
              <a:buFont typeface="Arial" panose="020B0604020202020204" pitchFamily="34" charset="0"/>
              <a:buNone/>
            </a:pPr>
            <a:r>
              <a:rPr lang="en-US" sz="1400"/>
              <a:t>Removing null or unknown columns and normalizing boolean fields improves data clarity and logical query operations.</a:t>
            </a:r>
          </a:p>
          <a:p>
            <a:pPr marL="0" indent="0">
              <a:spcBef>
                <a:spcPts val="2500"/>
              </a:spcBef>
              <a:spcAft>
                <a:spcPts val="600"/>
              </a:spcAft>
              <a:buFont typeface="Arial" panose="020B0604020202020204" pitchFamily="34" charset="0"/>
              <a:buNone/>
            </a:pPr>
            <a:r>
              <a:rPr lang="en-US" sz="1400" b="1"/>
              <a:t>Geospatial Data Precision</a:t>
            </a:r>
          </a:p>
          <a:p>
            <a:pPr marL="0" lvl="1" indent="0">
              <a:spcBef>
                <a:spcPts val="1000"/>
              </a:spcBef>
              <a:spcAft>
                <a:spcPts val="600"/>
              </a:spcAft>
              <a:buFont typeface="Arial" panose="020B0604020202020204" pitchFamily="34" charset="0"/>
              <a:buNone/>
            </a:pPr>
            <a:r>
              <a:rPr lang="en-US" sz="1400"/>
              <a:t>Casting latitude and longitude to precise decimal formats enhances accuracy for geospatial analysis.</a:t>
            </a:r>
          </a:p>
        </p:txBody>
      </p:sp>
    </p:spTree>
    <p:extLst>
      <p:ext uri="{BB962C8B-B14F-4D97-AF65-F5344CB8AC3E}">
        <p14:creationId xmlns:p14="http://schemas.microsoft.com/office/powerpoint/2010/main" val="9946121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3F96-E6E8-69A9-C46D-AC07927547C6}"/>
              </a:ext>
            </a:extLst>
          </p:cNvPr>
          <p:cNvSpPr>
            <a:spLocks noGrp="1"/>
          </p:cNvSpPr>
          <p:nvPr>
            <p:ph type="title"/>
          </p:nvPr>
        </p:nvSpPr>
        <p:spPr>
          <a:xfrm>
            <a:off x="157729" y="3200400"/>
            <a:ext cx="9002895" cy="3582184"/>
          </a:xfrm>
        </p:spPr>
        <p:txBody>
          <a:bodyPr anchor="b">
            <a:normAutofit/>
          </a:bodyPr>
          <a:lstStyle/>
          <a:p>
            <a:r>
              <a:rPr lang="en-US"/>
              <a:t>Data Loading and Automation</a:t>
            </a:r>
          </a:p>
        </p:txBody>
      </p:sp>
    </p:spTree>
    <p:extLst>
      <p:ext uri="{BB962C8B-B14F-4D97-AF65-F5344CB8AC3E}">
        <p14:creationId xmlns:p14="http://schemas.microsoft.com/office/powerpoint/2010/main" val="11111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30186-7FF1-B70D-7BC3-E74E7BC6047E}"/>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Data Loading Process</a:t>
            </a:r>
          </a:p>
        </p:txBody>
      </p:sp>
      <p:sp>
        <p:nvSpPr>
          <p:cNvPr id="5" name="TextBox 4">
            <a:extLst>
              <a:ext uri="{FF2B5EF4-FFF2-40B4-BE49-F238E27FC236}">
                <a16:creationId xmlns:a16="http://schemas.microsoft.com/office/drawing/2014/main" id="{43956610-4B84-4DD3-BC43-0A8C9B0AB6B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ACID-Compliant Storage</a:t>
            </a:r>
          </a:p>
          <a:p>
            <a:pPr marL="0" lvl="1" indent="0">
              <a:spcBef>
                <a:spcPts val="1000"/>
              </a:spcBef>
              <a:spcAft>
                <a:spcPts val="600"/>
              </a:spcAft>
              <a:buFont typeface="Arial" panose="020B0604020202020204" pitchFamily="34" charset="0"/>
              <a:buNone/>
            </a:pPr>
            <a:r>
              <a:rPr lang="en-US" sz="1400"/>
              <a:t>Delta Lake provides ACID-compliant storage ensuring data consistency and reliability during processing and updates.</a:t>
            </a:r>
          </a:p>
          <a:p>
            <a:pPr marL="0" indent="0">
              <a:spcBef>
                <a:spcPts val="2500"/>
              </a:spcBef>
              <a:spcAft>
                <a:spcPts val="600"/>
              </a:spcAft>
              <a:buFont typeface="Arial" panose="020B0604020202020204" pitchFamily="34" charset="0"/>
              <a:buNone/>
            </a:pPr>
            <a:r>
              <a:rPr lang="en-US" sz="1400" b="1"/>
              <a:t>Layered Delta Tables</a:t>
            </a:r>
          </a:p>
          <a:p>
            <a:pPr marL="0" lvl="1" indent="0">
              <a:spcBef>
                <a:spcPts val="1000"/>
              </a:spcBef>
              <a:spcAft>
                <a:spcPts val="600"/>
              </a:spcAft>
              <a:buFont typeface="Arial" panose="020B0604020202020204" pitchFamily="34" charset="0"/>
              <a:buNone/>
            </a:pPr>
            <a:r>
              <a:rPr lang="en-US" sz="1400"/>
              <a:t>Data is organized into Bronze, Silver, and Gold Delta tables for structured processing and optimized querying.</a:t>
            </a:r>
          </a:p>
          <a:p>
            <a:pPr marL="0" indent="0">
              <a:spcBef>
                <a:spcPts val="2500"/>
              </a:spcBef>
              <a:spcAft>
                <a:spcPts val="600"/>
              </a:spcAft>
              <a:buFont typeface="Arial" panose="020B0604020202020204" pitchFamily="34" charset="0"/>
              <a:buNone/>
            </a:pPr>
            <a:r>
              <a:rPr lang="en-US" sz="1400" b="1"/>
              <a:t>Time Travel Feature</a:t>
            </a:r>
          </a:p>
          <a:p>
            <a:pPr marL="0" lvl="1" indent="0">
              <a:spcBef>
                <a:spcPts val="1000"/>
              </a:spcBef>
              <a:spcAft>
                <a:spcPts val="600"/>
              </a:spcAft>
              <a:buFont typeface="Arial" panose="020B0604020202020204" pitchFamily="34" charset="0"/>
              <a:buNone/>
            </a:pPr>
            <a:r>
              <a:rPr lang="en-US" sz="1400"/>
              <a:t>Delta Lake supports time travel, enabling access to historical data versions for auditing and rollback purposes.</a:t>
            </a:r>
          </a:p>
          <a:p>
            <a:pPr marL="0" indent="0">
              <a:spcBef>
                <a:spcPts val="2500"/>
              </a:spcBef>
              <a:spcAft>
                <a:spcPts val="600"/>
              </a:spcAft>
              <a:buFont typeface="Arial" panose="020B0604020202020204" pitchFamily="34" charset="0"/>
              <a:buNone/>
            </a:pPr>
            <a:r>
              <a:rPr lang="en-US" sz="1400" b="1"/>
              <a:t>Integration with BI Tools</a:t>
            </a:r>
          </a:p>
          <a:p>
            <a:pPr marL="0" lvl="1" indent="0">
              <a:spcBef>
                <a:spcPts val="1000"/>
              </a:spcBef>
              <a:spcAft>
                <a:spcPts val="600"/>
              </a:spcAft>
              <a:buFont typeface="Arial" panose="020B0604020202020204" pitchFamily="34" charset="0"/>
              <a:buNone/>
            </a:pPr>
            <a:r>
              <a:rPr lang="en-US" sz="1400"/>
              <a:t>Registered Delta tables in the metastore allow SQL access and seamless integration with business intelligence tools.</a:t>
            </a:r>
          </a:p>
        </p:txBody>
      </p:sp>
      <p:pic>
        <p:nvPicPr>
          <p:cNvPr id="4" name="Content Placeholder 3" descr="Server room interior in datacenter">
            <a:extLst>
              <a:ext uri="{FF2B5EF4-FFF2-40B4-BE49-F238E27FC236}">
                <a16:creationId xmlns:a16="http://schemas.microsoft.com/office/drawing/2014/main" id="{F00DC3DB-AA89-4317-8EC0-B41212AD89CB}"/>
              </a:ext>
            </a:extLst>
          </p:cNvPr>
          <p:cNvPicPr>
            <a:picLocks noGrp="1" noChangeAspect="1"/>
          </p:cNvPicPr>
          <p:nvPr>
            <p:ph type="pic" sz="quarter" idx="13"/>
          </p:nvPr>
        </p:nvPicPr>
        <p:blipFill>
          <a:blip r:embed="rId3"/>
          <a:srcRect l="24830" r="35862" b="-1"/>
          <a:stretch>
            <a:fillRect/>
          </a:stretch>
        </p:blipFill>
        <p:spPr>
          <a:xfrm>
            <a:off x="7505700" y="266700"/>
            <a:ext cx="4419600" cy="6324600"/>
          </a:xfrm>
          <a:prstGeom prst="rect">
            <a:avLst/>
          </a:prstGeom>
          <a:noFill/>
        </p:spPr>
      </p:pic>
    </p:spTree>
    <p:extLst>
      <p:ext uri="{BB962C8B-B14F-4D97-AF65-F5344CB8AC3E}">
        <p14:creationId xmlns:p14="http://schemas.microsoft.com/office/powerpoint/2010/main" val="3400276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49A63-22E9-7F7C-1468-CDF2E18098B5}"/>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Automation Strategy</a:t>
            </a:r>
          </a:p>
        </p:txBody>
      </p:sp>
      <p:sp>
        <p:nvSpPr>
          <p:cNvPr id="5" name="TextBox 4">
            <a:extLst>
              <a:ext uri="{FF2B5EF4-FFF2-40B4-BE49-F238E27FC236}">
                <a16:creationId xmlns:a16="http://schemas.microsoft.com/office/drawing/2014/main" id="{AD0D7553-E11B-4DB3-B1EF-B0B747BFED5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Manual Data Ingestion</a:t>
            </a:r>
          </a:p>
          <a:p>
            <a:pPr marL="0" lvl="1" indent="0">
              <a:spcBef>
                <a:spcPts val="1000"/>
              </a:spcBef>
              <a:spcAft>
                <a:spcPts val="600"/>
              </a:spcAft>
              <a:buFont typeface="Arial" panose="020B0604020202020204" pitchFamily="34" charset="0"/>
              <a:buNone/>
            </a:pPr>
            <a:r>
              <a:rPr lang="en-US" sz="1400"/>
              <a:t>Manual ingestion downloads and validates source data to mitigate API downtime and corrupted files risks.</a:t>
            </a:r>
          </a:p>
          <a:p>
            <a:pPr marL="0" indent="0">
              <a:spcBef>
                <a:spcPts val="2500"/>
              </a:spcBef>
              <a:spcAft>
                <a:spcPts val="600"/>
              </a:spcAft>
              <a:buFont typeface="Arial" panose="020B0604020202020204" pitchFamily="34" charset="0"/>
              <a:buNone/>
            </a:pPr>
            <a:r>
              <a:rPr lang="en-US" sz="1400" b="1"/>
              <a:t>Automated Data Processing</a:t>
            </a:r>
          </a:p>
          <a:p>
            <a:pPr marL="0" lvl="1" indent="0">
              <a:spcBef>
                <a:spcPts val="1000"/>
              </a:spcBef>
              <a:spcAft>
                <a:spcPts val="600"/>
              </a:spcAft>
              <a:buFont typeface="Arial" panose="020B0604020202020204" pitchFamily="34" charset="0"/>
              <a:buNone/>
            </a:pPr>
            <a:r>
              <a:rPr lang="en-US" sz="1400"/>
              <a:t>Automated workflows using Databricks Jobs transform data through Bronze, Silver, and Gold layers efficiently.</a:t>
            </a:r>
          </a:p>
          <a:p>
            <a:pPr marL="0" indent="0">
              <a:spcBef>
                <a:spcPts val="2500"/>
              </a:spcBef>
              <a:spcAft>
                <a:spcPts val="600"/>
              </a:spcAft>
              <a:buFont typeface="Arial" panose="020B0604020202020204" pitchFamily="34" charset="0"/>
              <a:buNone/>
            </a:pPr>
            <a:r>
              <a:rPr lang="en-US" sz="1400" b="1"/>
              <a:t>Scheduling and Monitoring</a:t>
            </a:r>
          </a:p>
          <a:p>
            <a:pPr marL="0" lvl="1" indent="0">
              <a:spcBef>
                <a:spcPts val="1000"/>
              </a:spcBef>
              <a:spcAft>
                <a:spcPts val="600"/>
              </a:spcAft>
              <a:buFont typeface="Arial" panose="020B0604020202020204" pitchFamily="34" charset="0"/>
              <a:buNone/>
            </a:pPr>
            <a:r>
              <a:rPr lang="en-US" sz="1400"/>
              <a:t>Scheduling triggers pipelines on a fixed cadence or new file arrivals while monitoring ensures error detection.</a:t>
            </a:r>
          </a:p>
          <a:p>
            <a:pPr marL="0" indent="0">
              <a:spcBef>
                <a:spcPts val="2500"/>
              </a:spcBef>
              <a:spcAft>
                <a:spcPts val="600"/>
              </a:spcAft>
              <a:buFont typeface="Arial" panose="020B0604020202020204" pitchFamily="34" charset="0"/>
              <a:buNone/>
            </a:pPr>
            <a:r>
              <a:rPr lang="en-US" sz="1400" b="1"/>
              <a:t>Hybrid Automation Benefits</a:t>
            </a:r>
          </a:p>
          <a:p>
            <a:pPr marL="0" lvl="1" indent="0">
              <a:spcBef>
                <a:spcPts val="1000"/>
              </a:spcBef>
              <a:spcAft>
                <a:spcPts val="600"/>
              </a:spcAft>
              <a:buFont typeface="Arial" panose="020B0604020202020204" pitchFamily="34" charset="0"/>
              <a:buNone/>
            </a:pPr>
            <a:r>
              <a:rPr lang="en-US" sz="1400"/>
              <a:t>Combining manual and automated steps balances control and scalability for a resilient data pipeline.</a:t>
            </a:r>
          </a:p>
        </p:txBody>
      </p:sp>
      <p:pic>
        <p:nvPicPr>
          <p:cNvPr id="4" name="Content Placeholder 3" descr="Cloud computing or cloud network concept">
            <a:extLst>
              <a:ext uri="{FF2B5EF4-FFF2-40B4-BE49-F238E27FC236}">
                <a16:creationId xmlns:a16="http://schemas.microsoft.com/office/drawing/2014/main" id="{5EBACA76-B886-47CF-BC2D-8CC3FC23AD61}"/>
              </a:ext>
            </a:extLst>
          </p:cNvPr>
          <p:cNvPicPr>
            <a:picLocks noGrp="1" noChangeAspect="1"/>
          </p:cNvPicPr>
          <p:nvPr>
            <p:ph type="pic" sz="quarter" idx="13"/>
          </p:nvPr>
        </p:nvPicPr>
        <p:blipFill>
          <a:blip r:embed="rId3"/>
          <a:srcRect l="35840" r="24154" b="-1"/>
          <a:stretch>
            <a:fillRect/>
          </a:stretch>
        </p:blipFill>
        <p:spPr>
          <a:xfrm>
            <a:off x="7505700" y="266700"/>
            <a:ext cx="4419600" cy="6324600"/>
          </a:xfrm>
          <a:prstGeom prst="rect">
            <a:avLst/>
          </a:prstGeom>
          <a:noFill/>
        </p:spPr>
      </p:pic>
    </p:spTree>
    <p:extLst>
      <p:ext uri="{BB962C8B-B14F-4D97-AF65-F5344CB8AC3E}">
        <p14:creationId xmlns:p14="http://schemas.microsoft.com/office/powerpoint/2010/main" val="6202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151F-B3BE-22A5-DBEB-1C8679C44FDB}"/>
              </a:ext>
            </a:extLst>
          </p:cNvPr>
          <p:cNvSpPr>
            <a:spLocks noGrp="1"/>
          </p:cNvSpPr>
          <p:nvPr>
            <p:ph type="title"/>
          </p:nvPr>
        </p:nvSpPr>
        <p:spPr>
          <a:xfrm>
            <a:off x="157729" y="3200400"/>
            <a:ext cx="9002895" cy="3582184"/>
          </a:xfrm>
        </p:spPr>
        <p:txBody>
          <a:bodyPr anchor="b">
            <a:normAutofit/>
          </a:bodyPr>
          <a:lstStyle/>
          <a:p>
            <a:r>
              <a:rPr lang="en-US"/>
              <a:t>Challenges and Solutions</a:t>
            </a:r>
          </a:p>
        </p:txBody>
      </p:sp>
    </p:spTree>
    <p:extLst>
      <p:ext uri="{BB962C8B-B14F-4D97-AF65-F5344CB8AC3E}">
        <p14:creationId xmlns:p14="http://schemas.microsoft.com/office/powerpoint/2010/main" val="35088302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D6561-8A51-A5DC-2924-1C2C23BBA9F5}"/>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Challenges Faced</a:t>
            </a:r>
          </a:p>
        </p:txBody>
      </p:sp>
      <p:pic>
        <p:nvPicPr>
          <p:cNvPr id="4" name="Content Placeholder 3" descr="Database big data symbol badge">
            <a:extLst>
              <a:ext uri="{FF2B5EF4-FFF2-40B4-BE49-F238E27FC236}">
                <a16:creationId xmlns:a16="http://schemas.microsoft.com/office/drawing/2014/main" id="{C55FDC5B-8156-4E3F-B81B-0084EB6DA5A1}"/>
              </a:ext>
            </a:extLst>
          </p:cNvPr>
          <p:cNvPicPr>
            <a:picLocks noGrp="1" noChangeAspect="1"/>
          </p:cNvPicPr>
          <p:nvPr>
            <p:ph type="pic" sz="quarter" idx="13"/>
          </p:nvPr>
        </p:nvPicPr>
        <p:blipFill>
          <a:blip r:embed="rId3"/>
          <a:srcRect l="14866" r="15270"/>
          <a:stretch>
            <a:fillRect/>
          </a:stretch>
        </p:blipFill>
        <p:spPr>
          <a:xfrm>
            <a:off x="274320" y="268573"/>
            <a:ext cx="4419600" cy="6325969"/>
          </a:xfrm>
          <a:prstGeom prst="rect">
            <a:avLst/>
          </a:prstGeom>
          <a:noFill/>
        </p:spPr>
      </p:pic>
      <p:sp>
        <p:nvSpPr>
          <p:cNvPr id="5" name="TextBox 4">
            <a:extLst>
              <a:ext uri="{FF2B5EF4-FFF2-40B4-BE49-F238E27FC236}">
                <a16:creationId xmlns:a16="http://schemas.microsoft.com/office/drawing/2014/main" id="{7343ED9A-31A2-44B7-B487-64C4EAED602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6376546" cy="498635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API Ingestion Issues</a:t>
            </a:r>
          </a:p>
          <a:p>
            <a:pPr marL="0" lvl="1" indent="0">
              <a:spcBef>
                <a:spcPts val="1000"/>
              </a:spcBef>
              <a:spcAft>
                <a:spcPts val="600"/>
              </a:spcAft>
              <a:buFont typeface="Arial" panose="020B0604020202020204" pitchFamily="34" charset="0"/>
              <a:buNone/>
            </a:pPr>
            <a:r>
              <a:rPr lang="en-US" sz="1400"/>
              <a:t>API ingestion faced timeouts and network errors causing unreliable data flow and integration difficulties with Spark.</a:t>
            </a:r>
          </a:p>
          <a:p>
            <a:pPr marL="0" indent="0">
              <a:spcBef>
                <a:spcPts val="2500"/>
              </a:spcBef>
              <a:spcAft>
                <a:spcPts val="600"/>
              </a:spcAft>
              <a:buFont typeface="Arial" panose="020B0604020202020204" pitchFamily="34" charset="0"/>
              <a:buNone/>
            </a:pPr>
            <a:r>
              <a:rPr lang="en-US" sz="1400" b="1"/>
              <a:t>Large File Processing</a:t>
            </a:r>
          </a:p>
          <a:p>
            <a:pPr marL="0" lvl="1" indent="0">
              <a:spcBef>
                <a:spcPts val="1000"/>
              </a:spcBef>
              <a:spcAft>
                <a:spcPts val="600"/>
              </a:spcAft>
              <a:buFont typeface="Arial" panose="020B0604020202020204" pitchFamily="34" charset="0"/>
              <a:buNone/>
            </a:pPr>
            <a:r>
              <a:rPr lang="en-US" sz="1400"/>
              <a:t>Handling large ZIP files caused memory constraints and inefficiencies in processing data pipelines.</a:t>
            </a:r>
          </a:p>
          <a:p>
            <a:pPr marL="0" indent="0">
              <a:spcBef>
                <a:spcPts val="2500"/>
              </a:spcBef>
              <a:spcAft>
                <a:spcPts val="600"/>
              </a:spcAft>
              <a:buFont typeface="Arial" panose="020B0604020202020204" pitchFamily="34" charset="0"/>
              <a:buNone/>
            </a:pPr>
            <a:r>
              <a:rPr lang="en-US" sz="1400" b="1"/>
              <a:t>Null Value Handling</a:t>
            </a:r>
          </a:p>
          <a:p>
            <a:pPr marL="0" lvl="1" indent="0">
              <a:spcBef>
                <a:spcPts val="1000"/>
              </a:spcBef>
              <a:spcAft>
                <a:spcPts val="600"/>
              </a:spcAft>
              <a:buFont typeface="Arial" panose="020B0604020202020204" pitchFamily="34" charset="0"/>
              <a:buNone/>
            </a:pPr>
            <a:r>
              <a:rPr lang="en-US" sz="1400"/>
              <a:t>Managing null values without dropping columns preserved important data but added processing complexity.</a:t>
            </a:r>
          </a:p>
          <a:p>
            <a:pPr marL="0" indent="0">
              <a:spcBef>
                <a:spcPts val="2500"/>
              </a:spcBef>
              <a:spcAft>
                <a:spcPts val="600"/>
              </a:spcAft>
              <a:buFont typeface="Arial" panose="020B0604020202020204" pitchFamily="34" charset="0"/>
              <a:buNone/>
            </a:pPr>
            <a:r>
              <a:rPr lang="en-US" sz="1400" b="1"/>
              <a:t>Schema Consistency Challenges</a:t>
            </a:r>
          </a:p>
          <a:p>
            <a:pPr marL="0" lvl="1" indent="0">
              <a:spcBef>
                <a:spcPts val="1000"/>
              </a:spcBef>
              <a:spcAft>
                <a:spcPts val="600"/>
              </a:spcAft>
              <a:buFont typeface="Arial" panose="020B0604020202020204" pitchFamily="34" charset="0"/>
              <a:buNone/>
            </a:pPr>
            <a:r>
              <a:rPr lang="en-US" sz="1400"/>
              <a:t>Ensuring consistent schema across diverse and evolving datasets was complex due to format inconsistencies.</a:t>
            </a:r>
          </a:p>
        </p:txBody>
      </p:sp>
    </p:spTree>
    <p:extLst>
      <p:ext uri="{BB962C8B-B14F-4D97-AF65-F5344CB8AC3E}">
        <p14:creationId xmlns:p14="http://schemas.microsoft.com/office/powerpoint/2010/main" val="24510368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85A4-2D07-8E79-FFF7-9BA6E4EAC686}"/>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Solutions Implemented</a:t>
            </a:r>
          </a:p>
        </p:txBody>
      </p:sp>
      <p:pic>
        <p:nvPicPr>
          <p:cNvPr id="4" name="Content Placeholder 3" descr="Rear view shot of a team of programmers coding through the night">
            <a:extLst>
              <a:ext uri="{FF2B5EF4-FFF2-40B4-BE49-F238E27FC236}">
                <a16:creationId xmlns:a16="http://schemas.microsoft.com/office/drawing/2014/main" id="{060FA84B-21E2-4FAD-8124-F2ED2CEB6820}"/>
              </a:ext>
            </a:extLst>
          </p:cNvPr>
          <p:cNvPicPr>
            <a:picLocks noGrp="1" noChangeAspect="1"/>
          </p:cNvPicPr>
          <p:nvPr>
            <p:ph type="pic" sz="quarter" idx="13"/>
          </p:nvPr>
        </p:nvPicPr>
        <p:blipFill>
          <a:blip r:embed="rId3"/>
          <a:srcRect l="48495" r="4871" b="1"/>
          <a:stretch>
            <a:fillRect/>
          </a:stretch>
        </p:blipFill>
        <p:spPr>
          <a:xfrm>
            <a:off x="274320" y="268573"/>
            <a:ext cx="4419600" cy="6325969"/>
          </a:xfrm>
          <a:prstGeom prst="rect">
            <a:avLst/>
          </a:prstGeom>
          <a:noFill/>
        </p:spPr>
      </p:pic>
      <p:sp>
        <p:nvSpPr>
          <p:cNvPr id="5" name="TextBox 4">
            <a:extLst>
              <a:ext uri="{FF2B5EF4-FFF2-40B4-BE49-F238E27FC236}">
                <a16:creationId xmlns:a16="http://schemas.microsoft.com/office/drawing/2014/main" id="{9C61ABBF-3CB8-476F-861A-35143F8FF8E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6376546" cy="498635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Controlled Data Ingestion</a:t>
            </a:r>
          </a:p>
          <a:p>
            <a:pPr marL="0" lvl="1" indent="0">
              <a:spcBef>
                <a:spcPts val="1000"/>
              </a:spcBef>
              <a:spcAft>
                <a:spcPts val="600"/>
              </a:spcAft>
              <a:buFont typeface="Arial" panose="020B0604020202020204" pitchFamily="34" charset="0"/>
              <a:buNone/>
            </a:pPr>
            <a:r>
              <a:rPr lang="en-US" sz="1400"/>
              <a:t>Manual downloads and uploads to DBFS ensured a stable and controlled data ingestion process despite API instability.</a:t>
            </a:r>
          </a:p>
          <a:p>
            <a:pPr marL="0" indent="0">
              <a:spcBef>
                <a:spcPts val="2500"/>
              </a:spcBef>
              <a:spcAft>
                <a:spcPts val="600"/>
              </a:spcAft>
              <a:buFont typeface="Arial" panose="020B0604020202020204" pitchFamily="34" charset="0"/>
              <a:buNone/>
            </a:pPr>
            <a:r>
              <a:rPr lang="en-US" sz="1400" b="1"/>
              <a:t>Efficient ZIP File Handling</a:t>
            </a:r>
          </a:p>
          <a:p>
            <a:pPr marL="0" lvl="1" indent="0">
              <a:spcBef>
                <a:spcPts val="1000"/>
              </a:spcBef>
              <a:spcAft>
                <a:spcPts val="600"/>
              </a:spcAft>
              <a:buFont typeface="Arial" panose="020B0604020202020204" pitchFamily="34" charset="0"/>
              <a:buNone/>
            </a:pPr>
            <a:r>
              <a:rPr lang="en-US" sz="1400"/>
              <a:t>Chunk-based streaming and Python’s zipfile module reduced memory usage and prevented crashes when processing large ZIP files.</a:t>
            </a:r>
          </a:p>
          <a:p>
            <a:pPr marL="0" indent="0">
              <a:spcBef>
                <a:spcPts val="2500"/>
              </a:spcBef>
              <a:spcAft>
                <a:spcPts val="600"/>
              </a:spcAft>
              <a:buFont typeface="Arial" panose="020B0604020202020204" pitchFamily="34" charset="0"/>
              <a:buNone/>
            </a:pPr>
            <a:r>
              <a:rPr lang="en-US" sz="1400" b="1"/>
              <a:t>Dataset Splitting with PowerQuery</a:t>
            </a:r>
          </a:p>
          <a:p>
            <a:pPr marL="0" lvl="1" indent="0">
              <a:spcBef>
                <a:spcPts val="1000"/>
              </a:spcBef>
              <a:spcAft>
                <a:spcPts val="600"/>
              </a:spcAft>
              <a:buFont typeface="Arial" panose="020B0604020202020204" pitchFamily="34" charset="0"/>
              <a:buNone/>
            </a:pPr>
            <a:r>
              <a:rPr lang="en-US" sz="1400"/>
              <a:t>Oversized datasets were split into manageable parts using PowerQuery to facilitate smooth ingestion and processing.</a:t>
            </a:r>
          </a:p>
          <a:p>
            <a:pPr marL="0" indent="0">
              <a:spcBef>
                <a:spcPts val="2500"/>
              </a:spcBef>
              <a:spcAft>
                <a:spcPts val="600"/>
              </a:spcAft>
              <a:buFont typeface="Arial" panose="020B0604020202020204" pitchFamily="34" charset="0"/>
              <a:buNone/>
            </a:pPr>
            <a:r>
              <a:rPr lang="en-US" sz="1400" b="1"/>
              <a:t>Handling Null Values</a:t>
            </a:r>
          </a:p>
          <a:p>
            <a:pPr marL="0" lvl="1" indent="0">
              <a:spcBef>
                <a:spcPts val="1000"/>
              </a:spcBef>
              <a:spcAft>
                <a:spcPts val="600"/>
              </a:spcAft>
              <a:buFont typeface="Arial" panose="020B0604020202020204" pitchFamily="34" charset="0"/>
              <a:buNone/>
            </a:pPr>
            <a:r>
              <a:rPr lang="en-US" sz="1400"/>
              <a:t>Null values were replaced with type-appropriate defaults, ensuring data completeness without compromising analysis quality.</a:t>
            </a:r>
          </a:p>
        </p:txBody>
      </p:sp>
    </p:spTree>
    <p:extLst>
      <p:ext uri="{BB962C8B-B14F-4D97-AF65-F5344CB8AC3E}">
        <p14:creationId xmlns:p14="http://schemas.microsoft.com/office/powerpoint/2010/main" val="29306587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D948-0EA5-E92F-2292-065B71C42850}"/>
              </a:ext>
            </a:extLst>
          </p:cNvPr>
          <p:cNvSpPr>
            <a:spLocks noGrp="1"/>
          </p:cNvSpPr>
          <p:nvPr>
            <p:ph type="title"/>
          </p:nvPr>
        </p:nvSpPr>
        <p:spPr>
          <a:xfrm>
            <a:off x="157729" y="3200400"/>
            <a:ext cx="9002895" cy="3582184"/>
          </a:xfrm>
        </p:spPr>
        <p:txBody>
          <a:bodyPr anchor="b">
            <a:normAutofit/>
          </a:bodyPr>
          <a:lstStyle/>
          <a:p>
            <a:r>
              <a:rPr lang="en-US"/>
              <a:t>Insights and Dashboards</a:t>
            </a:r>
          </a:p>
        </p:txBody>
      </p:sp>
    </p:spTree>
    <p:extLst>
      <p:ext uri="{BB962C8B-B14F-4D97-AF65-F5344CB8AC3E}">
        <p14:creationId xmlns:p14="http://schemas.microsoft.com/office/powerpoint/2010/main" val="25569641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EF8A6-6692-4A57-6CE5-FBBBDE5F4804}"/>
              </a:ext>
            </a:extLst>
          </p:cNvPr>
          <p:cNvSpPr>
            <a:spLocks noGrp="1"/>
          </p:cNvSpPr>
          <p:nvPr>
            <p:ph type="title"/>
          </p:nvPr>
        </p:nvSpPr>
        <p:spPr>
          <a:xfrm>
            <a:off x="178704" y="218113"/>
            <a:ext cx="3363393" cy="2345471"/>
          </a:xfrm>
        </p:spPr>
        <p:txBody>
          <a:bodyPr vert="horz" lIns="91440" tIns="45720" rIns="91440" bIns="45720" rtlCol="0" anchor="t">
            <a:normAutofit/>
          </a:bodyPr>
          <a:lstStyle/>
          <a:p>
            <a:r>
              <a:rPr lang="en-US" b="0" kern="1200" spc="-100" baseline="0">
                <a:latin typeface="+mj-lt"/>
                <a:ea typeface="+mj-ea"/>
                <a:cs typeface="+mj-cs"/>
              </a:rPr>
              <a:t>Final Insights &amp; Dashboards</a:t>
            </a:r>
          </a:p>
        </p:txBody>
      </p:sp>
      <p:sp>
        <p:nvSpPr>
          <p:cNvPr id="5" name="TextBox 4">
            <a:extLst>
              <a:ext uri="{FF2B5EF4-FFF2-40B4-BE49-F238E27FC236}">
                <a16:creationId xmlns:a16="http://schemas.microsoft.com/office/drawing/2014/main" id="{00D29F2C-B9D1-4EE9-A3F5-5B19A952AA7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1851487"/>
            <a:ext cx="3363393" cy="3708232"/>
          </a:xfrm>
          <a:prstGeom prst="rect">
            <a:avLst/>
          </a:prstGeom>
        </p:spPr>
        <p:txBody>
          <a:bodyPr>
            <a:normAutofit/>
          </a:bodyPr>
          <a:lstStyle/>
          <a:p>
            <a:pPr marL="0" indent="0">
              <a:lnSpc>
                <a:spcPct val="90000"/>
              </a:lnSpc>
              <a:spcBef>
                <a:spcPts val="2500"/>
              </a:spcBef>
              <a:spcAft>
                <a:spcPts val="600"/>
              </a:spcAft>
              <a:buNone/>
            </a:pPr>
            <a:r>
              <a:rPr lang="en-US" sz="1200" b="1" dirty="0"/>
              <a:t>NHTSA Data Insights</a:t>
            </a:r>
          </a:p>
          <a:p>
            <a:pPr marL="0" lvl="1" indent="0">
              <a:lnSpc>
                <a:spcPct val="90000"/>
              </a:lnSpc>
              <a:spcBef>
                <a:spcPts val="1000"/>
              </a:spcBef>
              <a:spcAft>
                <a:spcPts val="600"/>
              </a:spcAft>
              <a:buNone/>
            </a:pPr>
            <a:r>
              <a:rPr lang="en-US" sz="1200" dirty="0"/>
              <a:t>Dashboards reveal manufacturer complaints, failing components, and trends to aid quality improvement and recall planning.</a:t>
            </a:r>
          </a:p>
          <a:p>
            <a:pPr marL="0" indent="0">
              <a:lnSpc>
                <a:spcPct val="90000"/>
              </a:lnSpc>
              <a:spcBef>
                <a:spcPts val="2500"/>
              </a:spcBef>
              <a:spcAft>
                <a:spcPts val="600"/>
              </a:spcAft>
              <a:buNone/>
            </a:pPr>
            <a:r>
              <a:rPr lang="en-US" sz="1200" b="1" dirty="0"/>
              <a:t>AFDC Infrastructure Analysis</a:t>
            </a:r>
          </a:p>
          <a:p>
            <a:pPr marL="0" lvl="1" indent="0">
              <a:lnSpc>
                <a:spcPct val="90000"/>
              </a:lnSpc>
              <a:spcBef>
                <a:spcPts val="1000"/>
              </a:spcBef>
              <a:spcAft>
                <a:spcPts val="600"/>
              </a:spcAft>
              <a:buNone/>
            </a:pPr>
            <a:r>
              <a:rPr lang="en-US" sz="1200" dirty="0"/>
              <a:t>Dashboards analyze station coverage, access types, and incomplete records to support infrastructure and data quality planning.</a:t>
            </a:r>
          </a:p>
          <a:p>
            <a:pPr marL="0" indent="0">
              <a:lnSpc>
                <a:spcPct val="90000"/>
              </a:lnSpc>
              <a:spcBef>
                <a:spcPts val="2500"/>
              </a:spcBef>
              <a:spcAft>
                <a:spcPts val="600"/>
              </a:spcAft>
              <a:buNone/>
            </a:pPr>
            <a:r>
              <a:rPr lang="en-US" sz="1200" b="1" dirty="0"/>
              <a:t>EPA Sustainability Metrics</a:t>
            </a:r>
          </a:p>
          <a:p>
            <a:pPr marL="0" lvl="1" indent="0">
              <a:lnSpc>
                <a:spcPct val="90000"/>
              </a:lnSpc>
              <a:spcBef>
                <a:spcPts val="1000"/>
              </a:spcBef>
              <a:spcAft>
                <a:spcPts val="600"/>
              </a:spcAft>
              <a:buNone/>
            </a:pPr>
            <a:r>
              <a:rPr lang="en-US" sz="1200" dirty="0"/>
              <a:t>Dashboards present fuel efficiency, annual fuel costs, and CO2 emissions data to inform sustainability and fleet management.</a:t>
            </a:r>
          </a:p>
        </p:txBody>
      </p:sp>
      <p:pic>
        <p:nvPicPr>
          <p:cNvPr id="4" name="Content Placeholder 3" descr="Watching financial data on smartphone inside car. Interface created by photographer.">
            <a:extLst>
              <a:ext uri="{FF2B5EF4-FFF2-40B4-BE49-F238E27FC236}">
                <a16:creationId xmlns:a16="http://schemas.microsoft.com/office/drawing/2014/main" id="{410BD0AE-FDF2-4272-9969-324CEF204813}"/>
              </a:ext>
            </a:extLst>
          </p:cNvPr>
          <p:cNvPicPr>
            <a:picLocks noGrp="1" noChangeAspect="1"/>
          </p:cNvPicPr>
          <p:nvPr>
            <p:ph idx="1"/>
          </p:nvPr>
        </p:nvPicPr>
        <p:blipFill>
          <a:blip r:embed="rId3"/>
          <a:srcRect l="12556" r="9987"/>
          <a:stretch>
            <a:fillRect/>
          </a:stretch>
        </p:blipFill>
        <p:spPr>
          <a:xfrm>
            <a:off x="4914900" y="218114"/>
            <a:ext cx="6688836" cy="6088068"/>
          </a:xfrm>
          <a:prstGeom prst="rect">
            <a:avLst/>
          </a:prstGeom>
          <a:noFill/>
        </p:spPr>
      </p:pic>
    </p:spTree>
    <p:extLst>
      <p:ext uri="{BB962C8B-B14F-4D97-AF65-F5344CB8AC3E}">
        <p14:creationId xmlns:p14="http://schemas.microsoft.com/office/powerpoint/2010/main" val="27593177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9C16DF-FD5D-45EB-A5D0-4ED61432363F}">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8C940ACA-6755-480B-98F2-5699A89626CC}">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BD7DE58-0BE1-4C71-B87C-2A79B7BE4426}">
  <ds:schemaRefs>
    <ds:schemaRef ds:uri="http://schemas.microsoft.com/sharepoint/v3/contenttype/forms"/>
  </ds:schemaRefs>
</ds:datastoreItem>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Dune</Template>
  <TotalTime>24</TotalTime>
  <Words>2443</Words>
  <Application>Microsoft Office PowerPoint</Application>
  <PresentationFormat>Widescreen</PresentationFormat>
  <Paragraphs>138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Neue Haas Grotesk Text Pro</vt:lpstr>
      <vt:lpstr>Dune</vt:lpstr>
      <vt:lpstr>AUTOMOTIVE DATA PIPELINE:  </vt:lpstr>
      <vt:lpstr>Project Overview and Objectives</vt:lpstr>
      <vt:lpstr>Title &amp; Overview of the Pipeline</vt:lpstr>
      <vt:lpstr>Scripts and Execution</vt:lpstr>
      <vt:lpstr>Explanation of Scripts  </vt:lpstr>
      <vt:lpstr>How to Run Scripts</vt:lpstr>
      <vt:lpstr>Data Processing and Transformation Decisions</vt:lpstr>
      <vt:lpstr>Data Processing Decisions</vt:lpstr>
      <vt:lpstr>Data Transformation Decisions</vt:lpstr>
      <vt:lpstr>Data Loading and Automation</vt:lpstr>
      <vt:lpstr>Data Loading Process</vt:lpstr>
      <vt:lpstr>Automation Strategy</vt:lpstr>
      <vt:lpstr>Challenges and Solutions</vt:lpstr>
      <vt:lpstr>Challenges Faced</vt:lpstr>
      <vt:lpstr>Solutions Implemented</vt:lpstr>
      <vt:lpstr>Insights and Dashboards</vt:lpstr>
      <vt:lpstr>Final Insights &amp; Dashboards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Miat</dc:creator>
  <cp:lastModifiedBy>Daniel Miat</cp:lastModifiedBy>
  <cp:revision>2</cp:revision>
  <dcterms:created xsi:type="dcterms:W3CDTF">2025-08-21T23:11:21Z</dcterms:created>
  <dcterms:modified xsi:type="dcterms:W3CDTF">2025-11-28T08:04:30Z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